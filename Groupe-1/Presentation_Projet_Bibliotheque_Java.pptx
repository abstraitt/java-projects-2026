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Click to edit the title text format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Click to edit the outline text format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Outline Level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Third Outline Level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Fourth Outline Level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Fifth Outline Level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Sixth Outline Level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Seventh Outline Level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ustomShape 1"/>
          <p:cNvSpPr/>
          <p:nvPr/>
        </p:nvSpPr>
        <p:spPr>
          <a:xfrm>
            <a:off x="-288000" y="720"/>
            <a:ext cx="12191040" cy="6857280"/>
          </a:xfrm>
          <a:prstGeom prst="rect">
            <a:avLst/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" name="CustomShape 2"/>
          <p:cNvSpPr/>
          <p:nvPr/>
        </p:nvSpPr>
        <p:spPr>
          <a:xfrm>
            <a:off x="1097280" y="1371600"/>
            <a:ext cx="4114080" cy="4107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PROJET UNIVERSITAIRE • JAVA POO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0" name="CustomShape 3"/>
          <p:cNvSpPr/>
          <p:nvPr/>
        </p:nvSpPr>
        <p:spPr>
          <a:xfrm>
            <a:off x="2302560" y="2011680"/>
            <a:ext cx="7646760" cy="1136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3800" spc="-1" strike="noStrike">
                <a:solidFill>
                  <a:srgbClr val="ffffff"/>
                </a:solidFill>
                <a:latin typeface="Arial"/>
                <a:ea typeface="DejaVu Sans"/>
              </a:rPr>
              <a:t>Notions Clés à Maîtriser</a:t>
            </a:r>
            <a:endParaRPr b="0" lang="fr-FR" sz="3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b="0" lang="fr-FR" sz="2400" spc="-1" strike="noStrike">
                <a:solidFill>
                  <a:srgbClr val="bad7f8"/>
                </a:solidFill>
                <a:latin typeface="Arial"/>
                <a:ea typeface="DejaVu Sans"/>
              </a:rPr>
              <a:t>Projet de Gestion de Bibliothèque Universitaire en Java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41" name="CustomShape 4"/>
          <p:cNvSpPr/>
          <p:nvPr/>
        </p:nvSpPr>
        <p:spPr>
          <a:xfrm>
            <a:off x="1097280" y="4389120"/>
            <a:ext cx="3656880" cy="540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CustomShape 5"/>
          <p:cNvSpPr/>
          <p:nvPr/>
        </p:nvSpPr>
        <p:spPr>
          <a:xfrm>
            <a:off x="3155400" y="4663440"/>
            <a:ext cx="5941440" cy="1125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e2e8f0"/>
                </a:solidFill>
                <a:latin typeface="Arial"/>
                <a:ea typeface="DejaVu Sans"/>
              </a:rPr>
              <a:t>Guide technique pour la conception, le développement et la validation du projet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e2e8f0"/>
                </a:solidFill>
                <a:latin typeface="Arial"/>
                <a:ea typeface="DejaVu Sans"/>
              </a:rPr>
              <a:t>Realiser par :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e2e8f0"/>
                </a:solidFill>
                <a:latin typeface="Arial"/>
                <a:ea typeface="DejaVu Sans"/>
              </a:rPr>
              <a:t>KAGHO MARIE EDGARD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e2e8f0"/>
                </a:solidFill>
                <a:latin typeface="Arial"/>
                <a:ea typeface="DejaVu Sans"/>
              </a:rPr>
              <a:t>ADAMOU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1100" spc="-1" strike="noStrike">
                <a:solidFill>
                  <a:srgbClr val="94a3b8"/>
                </a:solidFill>
                <a:latin typeface="Arial"/>
                <a:ea typeface="DejaVu Sans"/>
              </a:rPr>
              <a:t>Public cible : Étudiants en Informatique (Licence / Master / Ingénieur) • Support pédagogique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INTRODUCTION &amp; CADRAGE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4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Objectifs &amp; Périmètre du Projet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45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Quels sont les enjeux et les attendus de cette réalisation logicielle ?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7" name="CustomShape 5"/>
          <p:cNvSpPr/>
          <p:nvPr/>
        </p:nvSpPr>
        <p:spPr>
          <a:xfrm>
            <a:off x="7315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" name="CustomShape 6"/>
          <p:cNvSpPr/>
          <p:nvPr/>
        </p:nvSpPr>
        <p:spPr>
          <a:xfrm>
            <a:off x="7315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CustomShape 7"/>
          <p:cNvSpPr/>
          <p:nvPr/>
        </p:nvSpPr>
        <p:spPr>
          <a:xfrm>
            <a:off x="960120" y="1901880"/>
            <a:ext cx="2925360" cy="180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1. Enjeux Fonctionnels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Automatisation de la gestion du catalogue (livres, revues, thèses).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Suivi du cycle de vie des adhérents (étudiants, enseignants, externes).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Gestion des emprunts, retours et réservations d'ouvrages.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Calcul automatisé des pénalités financières de retard.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0" name="CustomShape 8"/>
          <p:cNvSpPr/>
          <p:nvPr/>
        </p:nvSpPr>
        <p:spPr>
          <a:xfrm>
            <a:off x="43891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" name="CustomShape 9"/>
          <p:cNvSpPr/>
          <p:nvPr/>
        </p:nvSpPr>
        <p:spPr>
          <a:xfrm>
            <a:off x="43891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" name="CustomShape 10"/>
          <p:cNvSpPr/>
          <p:nvPr/>
        </p:nvSpPr>
        <p:spPr>
          <a:xfrm>
            <a:off x="4617720" y="1901880"/>
            <a:ext cx="2925360" cy="2024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2. Compétences Techniques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Maîtrise de la Programmation Orientée Objet (POO).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Manipulation de collections génériques (ArrayList).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Gestion moderne du calendrier (java.time).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Validation rigoureuse des entrées console (Scanner).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Architecture modulaire et maintenable (MVC simplifié).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3" name="CustomShape 11"/>
          <p:cNvSpPr/>
          <p:nvPr/>
        </p:nvSpPr>
        <p:spPr>
          <a:xfrm>
            <a:off x="80467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CustomShape 12"/>
          <p:cNvSpPr/>
          <p:nvPr/>
        </p:nvSpPr>
        <p:spPr>
          <a:xfrm>
            <a:off x="80467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" name="CustomShape 13"/>
          <p:cNvSpPr/>
          <p:nvPr/>
        </p:nvSpPr>
        <p:spPr>
          <a:xfrm>
            <a:off x="8275320" y="1901880"/>
            <a:ext cx="2925360" cy="180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3. Critères d'Évaluation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Zéro crash : application robuste face aux mauvaises saisies.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Respect absolu des conventions de nommage Java.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Aucun code métier pollué par des affichages console.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Expérience utilisateur fluide et intuitive en console.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SOCLE FONDAMENTAL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7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Notions Java de Base Indispensables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58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Les structures impératives requises pour concevoir la logique applicative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0" name="CustomShape 5"/>
          <p:cNvSpPr/>
          <p:nvPr/>
        </p:nvSpPr>
        <p:spPr>
          <a:xfrm>
            <a:off x="7315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CustomShape 6"/>
          <p:cNvSpPr/>
          <p:nvPr/>
        </p:nvSpPr>
        <p:spPr>
          <a:xfrm>
            <a:off x="7315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" name="CustomShape 7"/>
          <p:cNvSpPr/>
          <p:nvPr/>
        </p:nvSpPr>
        <p:spPr>
          <a:xfrm>
            <a:off x="960120" y="1901880"/>
            <a:ext cx="2925360" cy="2004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Types &amp; Variables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Types Primitifs : int (identifiants, compteurs), double (amendes, tarifs), boolean (disponibilité).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Types Références : String (immuable pour titres/auteurs) et classes métiers.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Opérateurs logiques : &amp;&amp; (ET), || (OU), ! (NON) pour les règles d'éligibilité d'emprunt.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boolean eligible = (nbPrets &lt; MAX) &amp;&amp; !aDesAmendes;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63" name="CustomShape 8"/>
          <p:cNvSpPr/>
          <p:nvPr/>
        </p:nvSpPr>
        <p:spPr>
          <a:xfrm>
            <a:off x="43891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CustomShape 9"/>
          <p:cNvSpPr/>
          <p:nvPr/>
        </p:nvSpPr>
        <p:spPr>
          <a:xfrm>
            <a:off x="43891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CustomShape 10"/>
          <p:cNvSpPr/>
          <p:nvPr/>
        </p:nvSpPr>
        <p:spPr>
          <a:xfrm>
            <a:off x="4617720" y="1901880"/>
            <a:ext cx="2925360" cy="2126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Structures de Contrôle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Conditions : if / else if / else pour tester la disponibilité d'un livre.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Switch moderne : syntaxe fléchée -&gt; pour router les choix d'un menu.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Élimine le risque de chute involontaire (oubli de break).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switch (choix)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case 1 -&gt; listerLivres();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case 2 -&gt; emprunter();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66" name="CustomShape 11"/>
          <p:cNvSpPr/>
          <p:nvPr/>
        </p:nvSpPr>
        <p:spPr>
          <a:xfrm>
            <a:off x="80467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" name="CustomShape 12"/>
          <p:cNvSpPr/>
          <p:nvPr/>
        </p:nvSpPr>
        <p:spPr>
          <a:xfrm>
            <a:off x="80467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" name="CustomShape 13"/>
          <p:cNvSpPr/>
          <p:nvPr/>
        </p:nvSpPr>
        <p:spPr>
          <a:xfrm>
            <a:off x="8275320" y="1901880"/>
            <a:ext cx="2925360" cy="1981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Boucles &amp; Méthodes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Boucle do-while : boucle principale du menu console (au moins une itération).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Boucle for-each : lecture séquentielle et claire du catalogue.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Passage par valeur : compréhension clé de la copie de référence pour les objets.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for (Livre l : catalogue)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System.out.println(l);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PARADIGME OBJET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La Programmation Orientée Objet (POO)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7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Structurer les données et les comportements du domaine bibliothèque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73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" name="CustomShape 7"/>
          <p:cNvSpPr/>
          <p:nvPr/>
        </p:nvSpPr>
        <p:spPr>
          <a:xfrm>
            <a:off x="960120" y="1901880"/>
            <a:ext cx="4662720" cy="2786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Classes, Objets &amp; Encapsulation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Classe = Le moule ou plan d'architecte (ex: Livre.java).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Objet = L'instance vivante allouée avec new (ex: unLivre).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Encapsulation stricte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Attributs déclarés private (interdiction d'accès direct).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Getters pour la lecture contrôlée.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Setters avec validation métier (ex: refuser une année invalide).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Méthode toString() : redéfinie pour afficher l'état de l'objet.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class Livre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private String isbn;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private String titre;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private StatutLivre statut;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// Getters &amp; Setters...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76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CustomShape 10"/>
          <p:cNvSpPr/>
          <p:nvPr/>
        </p:nvSpPr>
        <p:spPr>
          <a:xfrm>
            <a:off x="6537960" y="1901880"/>
            <a:ext cx="4662720" cy="2352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Constructeurs &amp; Surcharge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Rôle : Initialiser l'état cohérent d'un objet dès sa création.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Même nom que la classe, aucun type de retour.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Surcharge de constructeurs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Permet plusieurs scénarios d'instanciation.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Constructeur complet (avec tous les champs).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Constructeur allégé avec valeurs par défaut (statut DISPONIBLE).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Mot-clé this(...) : délégation d'un constructeur à un autre.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Livre(String isbn, String titre)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this(isbn, titre, StatutLivre.DISPONIBLE);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TYPAGE SÛR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8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Les Énumérations (enum)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8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Bannir les chaînes magiques et sécuriser les états du système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83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CustomShape 7"/>
          <p:cNvSpPr/>
          <p:nvPr/>
        </p:nvSpPr>
        <p:spPr>
          <a:xfrm>
            <a:off x="960120" y="1901880"/>
            <a:ext cx="4662720" cy="2444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Pourquoi utiliser des Enumérations ?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Bannir les magic strings : finis les if (statut.equals("dispo")) qui échouent à cause d'une faute de frappe.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Ensemble restreint et contrôlé : valeurs connues dès la compilation.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Sécurité du compilateur : détection immédiate des erreurs de typage.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Lisibilité accrue : le code documente lui-même les états possibles.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enum StatutLivre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DISPONIBLE,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EMPRUNTE,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RESERVE,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EN_REPARATION,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PERDU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86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7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8" name="CustomShape 10"/>
          <p:cNvSpPr/>
          <p:nvPr/>
        </p:nvSpPr>
        <p:spPr>
          <a:xfrm>
            <a:off x="6537960" y="1901880"/>
            <a:ext cx="4662720" cy="3080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Enrichir une Enum avec des Propriétés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 Java, une enum est une classe complète avec attributs et constructeurs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Exemple : Catégorie d'adhérent définissant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La durée maximale d'emprunt autorisée (jours).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 quota maximal de livres empruntables.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Aucun switch supplémentaire nécessaire pour connaître les quotas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enum CategorieAdherent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ETUDIANT(14, 3),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ENSEIGNANT(28, 6),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EXTERNE(7, 1);</a:t>
            </a:r>
            <a:br/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public final int dureeMax;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public final int quotaLivres;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CategorieAdherent(int d, int q) { ...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GESTION DYNAMIQUE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Les Collections avec ArrayList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9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Manipuler des listes d'objets sans contrainte de taille fixe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93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4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CustomShape 7"/>
          <p:cNvSpPr/>
          <p:nvPr/>
        </p:nvSpPr>
        <p:spPr>
          <a:xfrm>
            <a:off x="960120" y="1901880"/>
            <a:ext cx="4662720" cy="2646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Tableau Fixe vs ArrayList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Tableau classique (Livre[]) : taille figée à la création, réallocation manuelle laborieuse.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ArrayList&lt;E&gt;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Redimensionnement automatique en arrière-plan.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Typage générique (&lt;Livre&gt;) vérifié à la compilation.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Interface List&lt;E&gt; recommandée pour la déclaration.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// Déclaration propre et générique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List&lt;Livre&gt; catalogue = new ArrayList&lt;&gt;();</a:t>
            </a:r>
            <a:br/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catalogue.add(new Livre("978-2...", "Clean Code"));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int total = catalogue.size();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Livre premier = catalogue.get(0);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96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7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8" name="CustomShape 10"/>
          <p:cNvSpPr/>
          <p:nvPr/>
        </p:nvSpPr>
        <p:spPr>
          <a:xfrm>
            <a:off x="6537960" y="1901880"/>
            <a:ext cx="4662720" cy="276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Parcours &amp; Piège de la Suppression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Lecture : boucle for-each pour un parcours clair et sécurisé.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Piège critique de la suppression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Ne JAMAIS appeler catalogue.remove() dans une boucle for-each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Déclenche une ConcurrentModificationException.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Solution : utiliser un Iterator ou removeIf() (Java 8+).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// Suppression sécurisée en Java 8+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catalogue.removeIf(l -&gt; l.getStatut() == StatutLivre.PERDU);</a:t>
            </a:r>
            <a:br/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// Ou avec Iterator classique :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Iterator&lt;Livre&gt; it = catalogue.iterator();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while (it.hasNext())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if (condition) it.remove();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TEMPS &amp; ÉCHÉANCES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0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Gestion Moderne des Dates (java.time)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0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Calculer avec précision les dates de retour et les jours de retard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3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4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CustomShape 7"/>
          <p:cNvSpPr/>
          <p:nvPr/>
        </p:nvSpPr>
        <p:spPr>
          <a:xfrm>
            <a:off x="960120" y="1901880"/>
            <a:ext cx="4662720" cy="2156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L'API Moderne java.time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Adieu Date &amp; Calendar (mutables, obsolètes et sources d'erreurs).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LocalDate : représente une date civile (Année-Mois-Jour).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Immuable et thread-safe : toute manipulation produit une nouvelle instance.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LocalDate.now() : capture la date du jour.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LocalDate.of(a, m, j) : construction d'une date précise.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plusDays(n) : calcul immédiat de la date d'échéance.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LocalDate dateEmprunt = LocalDate.now();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LocalDate dateEcheance = dateEmprunt.plusDays(14);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106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7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CustomShape 10"/>
          <p:cNvSpPr/>
          <p:nvPr/>
        </p:nvSpPr>
        <p:spPr>
          <a:xfrm>
            <a:off x="6537960" y="1901880"/>
            <a:ext cx="4662720" cy="2423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ChronoUnit &amp; Calcul de Pénalité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ChronoUnit.DAYS.between(date1, date2)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Mesure exacte du nombre de jours calendaires d'écart.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Fonctionne sans tracas d'heures ou de fuseaux.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Règle de pénalité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 dateRetour.isAfter(dateEcheance) -&gt; retard constaté.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Pénalité = nbJoursRetard * tarifJournalier.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if (dateRetour.isAfter(dateEcheance))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long retard = ChronoUnit.DAYS.between(dateEcheance, dateRetour);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double amende = retard * 0.50; // 0.50 €/jour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System.out.println("Amende : " + amende + " €");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INTERACTIONS CONSOLE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1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Scanner et Interactions Utilisateur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1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Maîtriser la saisie interactive et sécuriser le dialogue console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3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5" name="CustomShape 7"/>
          <p:cNvSpPr/>
          <p:nvPr/>
        </p:nvSpPr>
        <p:spPr>
          <a:xfrm>
            <a:off x="960120" y="1901880"/>
            <a:ext cx="4662720" cy="2250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Le Piège du Saut de Ligne Résiduel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Comment le bogue survient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L'utilisateur tape 42 puis appuie sur [Entrée].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2. scanner.nextInt() consomme les chiffres 42 mais laisse '\n' dans le buffer.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3. L'appel suivant scanner.nextLine() lit le '\n' restant immédiatement et retourne "" sans attendre la saisie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Conséquence : champ de saisie sauté et interface incohérente.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// Problème classique :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int age = sc.nextInt();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String nom = sc.nextLine(); // BUG : lu vide !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116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8" name="CustomShape 10"/>
          <p:cNvSpPr/>
          <p:nvPr/>
        </p:nvSpPr>
        <p:spPr>
          <a:xfrm>
            <a:off x="6537960" y="1901880"/>
            <a:ext cx="4662720" cy="3045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La Règle d'Or : Tout lire en nextLine()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Bonne pratique professionnelle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Toujours lire les entrées au format texte complet avec sc.nextLine().trim().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Convertir explicitement via Integer.parseInt() ou Double.parseDouble().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Encadrer d'un bloc try-catch pour redemander en boucle en cas de frappe erronée.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static int lireEntier(Scanner sc, String invite)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while (true)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System.out.print(invite);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try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  return Integer.parseInt(sc.nextLine().trim());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} catch (NumberFormatException 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  System.out.println("Entier invalide !");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ALGORITHMIQUE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Recherche dans une Collection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2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Localiser rapidement et sûrement un livre ou un usager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23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CustomShape 7"/>
          <p:cNvSpPr/>
          <p:nvPr/>
        </p:nvSpPr>
        <p:spPr>
          <a:xfrm>
            <a:off x="960120" y="1901880"/>
            <a:ext cx="4662720" cy="2857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Recherche par Identifiant Unique (ISBN / ID)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Principe de la recherche linéaire avec arrêt précoce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Parcours de la liste du début vers la fin.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Dès que l'identifiant correspond, return immédiat de l'objet.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Évite d'itérer inutilement sur le reste de la collection.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Retourner null si aucun élément ne correspond.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Attention aux comparaisons : equalsIgnoreCase() sur les chaînes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Livre trouverLivre(String isbn)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for (Livre l : catalogue)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if (l.getIsbn().equalsIgnoreCase(isbn))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  return l; // Trouvé !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return null; // Non trouvé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  <p:sp>
        <p:nvSpPr>
          <p:cNvPr id="126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CustomShape 10"/>
          <p:cNvSpPr/>
          <p:nvPr/>
        </p:nvSpPr>
        <p:spPr>
          <a:xfrm>
            <a:off x="6537960" y="1901880"/>
            <a:ext cx="4662720" cy="2784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Recherche Multi-Critères (Titre / Auteur)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Principe de l'accumulation dans une sous-liste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Instancier une nouvelle List&lt;Livre&gt; resultats = new ArrayList&lt;&gt;().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Tester la présence de mot-clé avec toLowerCase().contains().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Renvoyer la liste des correspondances (peut être vide).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Toujours tester if (livreTrouve != null) avant d'appeler ses méthodes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public List&lt;Livre&gt; chercherParTitre(String motCle)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List&lt;Livre&gt; res = new ArrayList&lt;&gt;();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for (Livre l : catalogue)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if (l.getTitre().toLowerCase().contains(motCle.toLowerCase()))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  res.add(l);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return res;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RÈGLES MÉTIER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30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Logique Métier : Prêts, Retours &amp; Réservations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31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2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La cohérence des flux au cœur du système de gestion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33" name="CustomShape 5"/>
          <p:cNvSpPr/>
          <p:nvPr/>
        </p:nvSpPr>
        <p:spPr>
          <a:xfrm>
            <a:off x="7315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CustomShape 6"/>
          <p:cNvSpPr/>
          <p:nvPr/>
        </p:nvSpPr>
        <p:spPr>
          <a:xfrm>
            <a:off x="7315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CustomShape 7"/>
          <p:cNvSpPr/>
          <p:nvPr/>
        </p:nvSpPr>
        <p:spPr>
          <a:xfrm>
            <a:off x="960120" y="1901880"/>
            <a:ext cx="2925360" cy="2176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1. Enregistrement du Prêt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Vérifications obligatoires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Adhérent valide et actif.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Quota d'emprunt non atteint (ex: max 3).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Aucune pénalité financière impayée.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Livre avec statut DISPONIBLE.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Actions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Statut livre -&gt; EMPRUNTE.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Création de l'objet Emprunt (date, échéance).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36" name="CustomShape 8"/>
          <p:cNvSpPr/>
          <p:nvPr/>
        </p:nvSpPr>
        <p:spPr>
          <a:xfrm>
            <a:off x="43891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7" name="CustomShape 9"/>
          <p:cNvSpPr/>
          <p:nvPr/>
        </p:nvSpPr>
        <p:spPr>
          <a:xfrm>
            <a:off x="43891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CustomShape 10"/>
          <p:cNvSpPr/>
          <p:nvPr/>
        </p:nvSpPr>
        <p:spPr>
          <a:xfrm>
            <a:off x="4617720" y="1901880"/>
            <a:ext cx="2925360" cy="2125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2. Gestion du Retour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Constat de la date de retour effective.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Calcul du retard éventuel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 retard &gt; 0 : calcul de l'amende.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Enregistrement de la pénalité sur le compte usager.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Traitement de la disponibilité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 réservation en attente -&gt; RESERVE pour le bénéficiaire.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Sinon -&gt; DISPONIBLE pour tous.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39" name="CustomShape 11"/>
          <p:cNvSpPr/>
          <p:nvPr/>
        </p:nvSpPr>
        <p:spPr>
          <a:xfrm>
            <a:off x="80467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CustomShape 12"/>
          <p:cNvSpPr/>
          <p:nvPr/>
        </p:nvSpPr>
        <p:spPr>
          <a:xfrm>
            <a:off x="80467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1" name="CustomShape 13"/>
          <p:cNvSpPr/>
          <p:nvPr/>
        </p:nvSpPr>
        <p:spPr>
          <a:xfrm>
            <a:off x="8275320" y="1901880"/>
            <a:ext cx="2925360" cy="147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3. File de Réservation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Quand un livre est déjà EMPRUNTE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L'usager peut déposer une réservation.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File d'attente pour attribuer le livre en priorité dès son retour.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Notification ou blocage de réemprunt par un tiers.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ARCHITECTURE APPLICATIVE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Structure d'un Programme Console avec Menus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Organisation modulaire et séparation des responsabilités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46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CustomShape 7"/>
          <p:cNvSpPr/>
          <p:nvPr/>
        </p:nvSpPr>
        <p:spPr>
          <a:xfrm>
            <a:off x="960120" y="1901880"/>
            <a:ext cx="4662720" cy="200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Architecture en Couches (MVC Simplifié)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Couche Modèle (model)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Classes d'entités (Livre, Adherent, Emprunt).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Zéro affichage, zéro System.out.println.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2. Couche Métier / Service (service)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BibliothequeService : gère les listes et applique les règles.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Ne contient aucun Scanner.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3. Couche Vue / Console (ui)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MenuConsole : gère les affichages et saisies.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49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0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CustomShape 10"/>
          <p:cNvSpPr/>
          <p:nvPr/>
        </p:nvSpPr>
        <p:spPr>
          <a:xfrm>
            <a:off x="6537960" y="1901880"/>
            <a:ext cx="4662720" cy="3220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La Boucle Principale Interactive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Une boucle do-while pilote l'exécution jusqu'au choix 0 (Quitter).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Découpage en sous-menus thématiques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Gestion des Livres (Ajout, Liste, Recherche)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2. Gestion des Adhérents (Inscription, Profil)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3. Prêts &amp; Retours (Emprunter, Rendre, Prolongation)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4. Rapports &amp; Pénalités (Retards, Statistiques)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0. Sauvegarder &amp; Quitter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do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afficherMenu();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choix = lireChoix();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switch(choix) {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case 1 -&gt; sousMenuLivres();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case 2 -&gt; sousMenuAdherents();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  case 0 -&gt; quitter = true;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  }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} while (!quitter);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QUALITÉ &amp; FIABILITÉ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Bonnes Pratiques &amp; Erreurs Fréquentes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5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Les réflexes de l'ingénieur logiciel pour un rendu professionnel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56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8" name="CustomShape 7"/>
          <p:cNvSpPr/>
          <p:nvPr/>
        </p:nvSpPr>
        <p:spPr>
          <a:xfrm>
            <a:off x="960120" y="1901880"/>
            <a:ext cx="4662720" cy="2176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Les 4 Pièges Critiques à Éviter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Ne jamais comparer des String avec ==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Toujours utiliser s1.equals(s2) ou equalsIgnoreCase().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2. NullPointerException silencieuse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Toujours vérifier if (objet != null) après une recherche avant d'appeler une méthode.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3. Oubli du 'break' dans un switch classique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Privilégier la syntaxe moderne avec flèches (-&gt;).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4. Crash sur saisie de lettre au lieu d'un nombre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Protéger avec try-catch (NumberFormatException).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59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CustomShape 10"/>
          <p:cNvSpPr/>
          <p:nvPr/>
        </p:nvSpPr>
        <p:spPr>
          <a:xfrm>
            <a:off x="6537960" y="1901880"/>
            <a:ext cx="4662720" cy="1958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Bonnes Pratiques de Conception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Conventions de nommage officielles :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PascalCase pour les Classes (LivreService).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camelCase pour méthodes et variables (calculerPenalite).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  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UPPER_SNAKE_CASE pour constantes (DUREE_MAX_JOURS).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Méthodes courtes et ciblées (&lt; 25 lignes).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Nommage explicite : bannir les variables l, a, x ; préférer livre, adherent, choix.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Commentaires Javadoc sur les méthodes publiques.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AUTO-ÉVALUATION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Checklist des Compétences du Projet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5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Grille de vérification préalable à la soutenance ou au rendu final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66" name="CustomShape 5"/>
          <p:cNvSpPr/>
          <p:nvPr/>
        </p:nvSpPr>
        <p:spPr>
          <a:xfrm>
            <a:off x="7315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CustomShape 6"/>
          <p:cNvSpPr/>
          <p:nvPr/>
        </p:nvSpPr>
        <p:spPr>
          <a:xfrm>
            <a:off x="7315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CustomShape 7"/>
          <p:cNvSpPr/>
          <p:nvPr/>
        </p:nvSpPr>
        <p:spPr>
          <a:xfrm>
            <a:off x="960120" y="1901880"/>
            <a:ext cx="2925360" cy="1740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Fondamentaux &amp; POO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Classes métier complètes (Livre, Adherent, Emprunt).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Encapsulation stricte (attributs privés).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Getters et Setters validés.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Constructeurs surchargés pertinents.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Redéfinition soignée de toString().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Énumérations typées (StatutLivre).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69" name="CustomShape 8"/>
          <p:cNvSpPr/>
          <p:nvPr/>
        </p:nvSpPr>
        <p:spPr>
          <a:xfrm>
            <a:off x="43891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CustomShape 9"/>
          <p:cNvSpPr/>
          <p:nvPr/>
        </p:nvSpPr>
        <p:spPr>
          <a:xfrm>
            <a:off x="43891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0f294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CustomShape 10"/>
          <p:cNvSpPr/>
          <p:nvPr/>
        </p:nvSpPr>
        <p:spPr>
          <a:xfrm>
            <a:off x="4617720" y="1901880"/>
            <a:ext cx="2925360" cy="157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Données &amp; Algorithmes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ArrayList générique pour le catalogue.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Recherche linéaire par ISBN fonctionnelle.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Recherche textuelle insensible à la casse.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Manipulation de LocalDate &amp; ChronoUnit.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Calcul mathématique exact des retards.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Application des barèmes de pénalités.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72" name="CustomShape 11"/>
          <p:cNvSpPr/>
          <p:nvPr/>
        </p:nvSpPr>
        <p:spPr>
          <a:xfrm>
            <a:off x="8046720" y="1737360"/>
            <a:ext cx="338256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3" name="CustomShape 12"/>
          <p:cNvSpPr/>
          <p:nvPr/>
        </p:nvSpPr>
        <p:spPr>
          <a:xfrm>
            <a:off x="8046720" y="1737360"/>
            <a:ext cx="338256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CustomShape 13"/>
          <p:cNvSpPr/>
          <p:nvPr/>
        </p:nvSpPr>
        <p:spPr>
          <a:xfrm>
            <a:off x="8275320" y="1901880"/>
            <a:ext cx="2925360" cy="2075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Robustesse &amp; Architecture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Scanner robuste sans bogue de saut de ligne.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Découpage en couches (Model / Service / UI).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Menu console navigable en do-while.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Zéro crash sur saisie incorrecte.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Code propre, indenté et commenté.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[  ] Respect des conventions de nommage Java.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CustomShape 1"/>
          <p:cNvSpPr/>
          <p:nvPr/>
        </p:nvSpPr>
        <p:spPr>
          <a:xfrm>
            <a:off x="731520" y="365760"/>
            <a:ext cx="10514880" cy="15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1000" spc="-1" strike="noStrike">
                <a:solidFill>
                  <a:srgbClr val="1e6cb0"/>
                </a:solidFill>
                <a:latin typeface="Arial"/>
                <a:ea typeface="DejaVu Sans"/>
              </a:rPr>
              <a:t>SYNTHÈSE &amp; CLÉS DU SUCCÈS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731520" y="685800"/>
            <a:ext cx="10514880" cy="33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0f294a"/>
                </a:solidFill>
                <a:latin typeface="Arial"/>
                <a:ea typeface="DejaVu Sans"/>
              </a:rPr>
              <a:t>Conclusion &amp; Conseils Méthodologiques</a:t>
            </a:r>
            <a:endParaRPr b="0" lang="fr-FR" sz="2200" spc="-1" strike="noStrike"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731520" y="1280160"/>
            <a:ext cx="10697760" cy="176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CustomShape 4"/>
          <p:cNvSpPr/>
          <p:nvPr/>
        </p:nvSpPr>
        <p:spPr>
          <a:xfrm>
            <a:off x="731520" y="1325880"/>
            <a:ext cx="10514880" cy="1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</a:pPr>
            <a:r>
              <a:rPr b="0" i="1" lang="fr-FR" sz="1100" spc="-1" strike="noStrike">
                <a:solidFill>
                  <a:srgbClr val="64748b"/>
                </a:solidFill>
                <a:latin typeface="Arial"/>
                <a:ea typeface="DejaVu Sans"/>
              </a:rPr>
              <a:t>Comment réussir son projet étape par étape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79" name="CustomShape 5"/>
          <p:cNvSpPr/>
          <p:nvPr/>
        </p:nvSpPr>
        <p:spPr>
          <a:xfrm>
            <a:off x="73152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0" name="CustomShape 6"/>
          <p:cNvSpPr/>
          <p:nvPr/>
        </p:nvSpPr>
        <p:spPr>
          <a:xfrm>
            <a:off x="73152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1e6cb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CustomShape 7"/>
          <p:cNvSpPr/>
          <p:nvPr/>
        </p:nvSpPr>
        <p:spPr>
          <a:xfrm>
            <a:off x="960120" y="1901880"/>
            <a:ext cx="4662720" cy="180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Méthodologie en 4 Phases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Phase 1 : Modélisation des classes (Livre, Adherent, Enum). Écrire les attributs, constructeurs et toString.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Phase 2 : Couche Service. Implémenter les méthodes de recherche, ajout, emprunt et calcul des retards.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Phase 3 : Interface Console. Mettre en place le menu, les lectures sécurisées et connecter les appels au Service.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Phase 4 : Tests limites. Tester les cas extrêmes (catalogue vide, retard de 50 jours, saisie de texte dans un menu).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2" name="CustomShape 8"/>
          <p:cNvSpPr/>
          <p:nvPr/>
        </p:nvSpPr>
        <p:spPr>
          <a:xfrm>
            <a:off x="6309360" y="1737360"/>
            <a:ext cx="5119920" cy="45712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CustomShape 9"/>
          <p:cNvSpPr/>
          <p:nvPr/>
        </p:nvSpPr>
        <p:spPr>
          <a:xfrm>
            <a:off x="6309360" y="1737360"/>
            <a:ext cx="5119920" cy="7236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CustomShape 10"/>
          <p:cNvSpPr/>
          <p:nvPr/>
        </p:nvSpPr>
        <p:spPr>
          <a:xfrm>
            <a:off x="6537960" y="1901880"/>
            <a:ext cx="4662720" cy="166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1" lang="fr-FR" sz="1400" spc="-1" strike="noStrike">
                <a:solidFill>
                  <a:srgbClr val="0f294a"/>
                </a:solidFill>
                <a:latin typeface="Arial"/>
                <a:ea typeface="DejaVu Sans"/>
              </a:rPr>
              <a:t>Les 3 Conseils d'Or du Formateur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Ne commencez pas par le menu console : développez et validez d'abord vos classes et vos calculs dans une méthode main de test rapide.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2. Testez chaque brique unitairement avant de passer à la suivante.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1e293b"/>
                </a:solidFill>
                <a:latin typeface="Arial"/>
                <a:ea typeface="DejaVu Sans"/>
              </a:rPr>
              <a:t>3. Un code lisible et modulaire vaut bien mieux qu'un gros code complexe : privilégiez la simplicité, la clarté et la robustesse !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// Bonne chance pour votre projet Java !</a:t>
            </a:r>
            <a:br/>
            <a:r>
              <a:rPr b="0" lang="fr-FR" sz="950" spc="-1" strike="noStrike">
                <a:solidFill>
                  <a:srgbClr val="1e6cb0"/>
                </a:solidFill>
                <a:latin typeface="Consolas"/>
                <a:ea typeface="DejaVu Sans"/>
              </a:rPr>
              <a:t>System.out.println("Projet opérationnel et validé !");</a:t>
            </a:r>
            <a:endParaRPr b="0" lang="fr-FR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Neat_Office/6.2.8.2$Windows_x86 LibreOffice_project/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2026-09-29T21:50:29Z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0</vt:i4>
  </property>
</Properties>
</file>