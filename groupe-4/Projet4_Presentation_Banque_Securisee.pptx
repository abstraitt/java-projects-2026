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Soumelong Jordan Landry, étudiant en Niveau 2 Cybersécurité à ICT-University. Je vous présente mon Projet 4 : la simulation de transactions bancaires sécurisées, développée en Java. Durée conseillée de la présentation : 10 à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déroulé en six parties : le contexte, l'architecture, la sécurité, les opérations bancaires, la détection de fraude, puis la démonstration et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banques traitent chaque jour un très grand nombre de transactions et doivent les protéger contre la fraude. Mon projet simule cela à petite échelle : une banque en console, avec huit fonctionnalités demandées par le sujet. Contrainte importante : comptes et transactions sont stockés dans des tableaux.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projet est organisé en six classes, chacune avec un rôle précis. Main gère uniquement les menus. Banque contient toute la logique métier et possède les deux tableaux. Elle s'appuie sur Compte, Transaction, Journal et Securite. Cette séparation rend le code lisible et facile à maintenir.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choix a une raison. Java pour la programmation orientée objet. Les tableaux car c'est l'exigence du sujet, avec un compteur pour savoir combien de cases sont utilisées. SHA-256 pour ne jamais stocker un mot de passe en clair. LocalDateTime pour horodater chaque opération, ce qui permet de mesurer la fréquence. Enfin des fichiers texte pour le journal et les relevés.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classes portent les données. Un Compte a un numéro de type CM00001, un titulaire, un mot de passe haché, un solde, un état bloqué ou non et un compteur d'échecs. Une Transaction a un identifiant automatique, un type, une source, une destination, un montant, une date et un indicateur suspect avec son motif. Les tableaux stockent ces objets.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sécurité repose sur trois mécanismes. Un : le hachage SHA-256, on compare des empreintes et jamais des mots de passe en clair. Deux : après trois échecs de connexion, le compte est bloqué automatiquement. Trois : l'espace administrateur est protégé par un code lui aussi haché.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opération suit la même logique : on vérifie d'abord les conditions, puis on modifie les tableaux, puis on enregistre la transaction. Le dépôt exige un montant positif. Le retrait exige en plus un solde suffisant. Le virement vérifie le destinataire et met à jour deux comptes.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règles simples à base de conditions, comme le demande le sujet. Première règle : un montant supérieur ou égal à 500 000 FCFA est suspect. Deuxième règle : trois opérations sortantes ou plus en 60 secondes sur le même compte signalent une fréquence anormale. La transaction est marquée avec son motif, elle n'est pas supprimée, ce qui permet à l'administrateur de la consulter.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modules complètent le système. L'administration permet de lister les comptes, de voir les transactions suspectes et de bloquer ou débloquer un compte. La journalisation écrit chaque événement dans journal.log avec sa date, en ajoutant à la fin du fichier. L'export génère un relevé texte par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méthode analyserFraude. Le premier if teste le montant par rapport à la constante SEUIL_MONTANT. Sinon, on compte les opérations récentes du compte source grâce à compterOperationsRecentes, qui parcourt le tableau et garde celles des 60 dernières secondes. Dans les deux cas, marquerSuspecte enregistre le motif.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déroule ce scénario en direct. Je crée deux comptes, je me connecte, je tente un retrait supérieur au solde qui est refusé, puis un virement valide. Ensuite je fais quatre retraits rapides pour déclencher la fréquence anormale, je saisis trois fois un mauvais mot de passe pour bloquer un compte, et j'ouvre l'administration pour montrer les transactions suspectes.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être honnête sur les limites. Les tableaux ont une taille fixe et les données sont perdues à l'arrêt du programme. La détection de fraude reste basique. Pour aller plus loin : ArrayList ou base de données, sel ou BCrypt pour le hachage, blocage automatique des transactions suspectes et interface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le projet répond à toutes les exigences du sujet. Les points forts sont l'architecture claire, la sécurité des mots de passe et la détection de fraude. Je vous remercie de votre attention et je suis prêt à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2E"/>
        </a:solidFill>
      </p:bgPr>
    </p:bg>
    <p:spTree>
      <p:nvGrpSpPr>
        <p:cNvPr id="1" name=""/>
        <p:cNvGrpSpPr/>
        <p:nvPr/>
      </p:nvGrpSpPr>
      <p:grpSpPr>
        <a:xfrm>
          <a:off x="0" y="0"/>
          <a:ext cx="0" cy="0"/>
          <a:chOff x="0" y="0"/>
          <a:chExt cx="0" cy="0"/>
        </a:xfrm>
      </p:grpSpPr>
      <p:sp>
        <p:nvSpPr>
          <p:cNvPr id="3" name="Text 0"/>
          <p:cNvSpPr txBox="1"/>
          <p:nvPr/>
        </p:nvSpPr>
        <p:spPr>
          <a:xfrm>
            <a:off x="548640" y="822960"/>
            <a:ext cx="5760720" cy="274320"/>
          </a:xfrm>
          <a:prstGeom prst="rect">
            <a:avLst/>
          </a:prstGeom>
          <a:noFill/>
          <a:ln/>
        </p:spPr>
        <p:txBody>
          <a:bodyPr wrap="square" lIns="0" tIns="0" rIns="0" bIns="0" rtlCol="0" anchor="t"/>
          <a:lstStyle/>
          <a:p>
            <a:pPr indent="0" marL="0">
              <a:buNone/>
            </a:pPr>
            <a:r>
              <a:rPr lang="en-US" sz="1300" b="1" spc="300" kern="0" dirty="0">
                <a:solidFill>
                  <a:srgbClr val="F2A93B"/>
                </a:solidFill>
                <a:latin typeface="Calibri" pitchFamily="34" charset="0"/>
                <a:ea typeface="Calibri" pitchFamily="34" charset="-122"/>
                <a:cs typeface="Calibri" pitchFamily="34" charset="-120"/>
              </a:rPr>
              <a:t>PROJET 4  ·  JAVA  ·  SESSION NORMALE</a:t>
            </a:r>
            <a:endParaRPr lang="en-US" sz="1300" dirty="0"/>
          </a:p>
        </p:txBody>
      </p:sp>
      <p:sp>
        <p:nvSpPr>
          <p:cNvPr id="4" name="Text 1"/>
          <p:cNvSpPr txBox="1"/>
          <p:nvPr/>
        </p:nvSpPr>
        <p:spPr>
          <a:xfrm>
            <a:off x="548640" y="1280160"/>
            <a:ext cx="576072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Simulation de transactions bancaires sécurisées</a:t>
            </a:r>
            <a:endParaRPr lang="en-US" sz="3600" dirty="0"/>
          </a:p>
        </p:txBody>
      </p:sp>
      <p:sp>
        <p:nvSpPr>
          <p:cNvPr id="5" name="Text 2"/>
          <p:cNvSpPr txBox="1"/>
          <p:nvPr/>
        </p:nvSpPr>
        <p:spPr>
          <a:xfrm>
            <a:off x="548640" y="3566160"/>
            <a:ext cx="5760720" cy="914400"/>
          </a:xfrm>
          <a:prstGeom prst="rect">
            <a:avLst/>
          </a:prstGeom>
          <a:noFill/>
          <a:ln/>
        </p:spPr>
        <p:txBody>
          <a:bodyPr wrap="square" lIns="0" tIns="0" rIns="0" bIns="0" rtlCol="0" anchor="t"/>
          <a:lstStyle/>
          <a:p>
            <a:pPr indent="0" marL="0">
              <a:buNone/>
            </a:pPr>
            <a:r>
              <a:rPr lang="en-US" sz="1400" b="1" dirty="0">
                <a:solidFill>
                  <a:srgbClr val="CFE3E1"/>
                </a:solidFill>
                <a:latin typeface="Calibri" pitchFamily="34" charset="0"/>
                <a:ea typeface="Calibri" pitchFamily="34" charset="-122"/>
                <a:cs typeface="Calibri" pitchFamily="34" charset="-120"/>
              </a:rPr>
              <a:t>Soumelong Jordan Landry</a:t>
            </a:r>
            <a:endParaRPr lang="en-US" sz="1400" dirty="0"/>
          </a:p>
          <a:p>
            <a:pPr indent="0" marL="0">
              <a:buNone/>
            </a:pPr>
            <a:r>
              <a:rPr lang="en-US" sz="1400" dirty="0">
                <a:solidFill>
                  <a:srgbClr val="CFE3E1"/>
                </a:solidFill>
                <a:latin typeface="Calibri" pitchFamily="34" charset="0"/>
                <a:ea typeface="Calibri" pitchFamily="34" charset="-122"/>
                <a:cs typeface="Calibri" pitchFamily="34" charset="-120"/>
              </a:rPr>
              <a:t>Matricule ICTU20251294</a:t>
            </a:r>
            <a:endParaRPr lang="en-US" sz="1400" dirty="0"/>
          </a:p>
          <a:p>
            <a:pPr indent="0" marL="0">
              <a:buNone/>
            </a:pPr>
            <a:r>
              <a:rPr lang="en-US" sz="1400" dirty="0">
                <a:solidFill>
                  <a:srgbClr val="CFE3E1"/>
                </a:solidFill>
                <a:latin typeface="Calibri" pitchFamily="34" charset="0"/>
                <a:ea typeface="Calibri" pitchFamily="34" charset="-122"/>
                <a:cs typeface="Calibri" pitchFamily="34" charset="-120"/>
              </a:rPr>
              <a:t>ICT-University · Niveau 2 Cybersécurité · Yaoundé</a:t>
            </a:r>
            <a:endParaRPr lang="en-US" sz="1400" dirty="0"/>
          </a:p>
        </p:txBody>
      </p:sp>
      <p:sp>
        <p:nvSpPr>
          <p:cNvPr id="6" name="Shape 3"/>
          <p:cNvSpPr/>
          <p:nvPr/>
        </p:nvSpPr>
        <p:spPr>
          <a:xfrm>
            <a:off x="6675120" y="1371600"/>
            <a:ext cx="2011680" cy="201168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223760" y="192024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Plan de la présentation</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234440"/>
            <a:ext cx="2560320" cy="1463040"/>
          </a:xfrm>
          <a:prstGeom prst="roundRect">
            <a:avLst>
              <a:gd name="adj" fmla="val 5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417320"/>
            <a:ext cx="457200" cy="457200"/>
          </a:xfrm>
          <a:prstGeom prst="ellipse">
            <a:avLst/>
          </a:prstGeom>
          <a:solidFill>
            <a:srgbClr val="0E7C7B"/>
          </a:solidFill>
          <a:ln w="12700">
            <a:solidFill>
              <a:srgbClr val="0E7C7B"/>
            </a:solidFill>
            <a:prstDash val="solid"/>
          </a:ln>
        </p:spPr>
      </p:sp>
      <p:sp>
        <p:nvSpPr>
          <p:cNvPr id="7" name="Text 4"/>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640080" y="2011680"/>
            <a:ext cx="2194560" cy="320040"/>
          </a:xfrm>
          <a:prstGeom prst="rect">
            <a:avLst/>
          </a:prstGeom>
          <a:noFill/>
          <a:ln/>
        </p:spPr>
        <p:txBody>
          <a:bodyPr wrap="square" lIns="0" tIns="0" rIns="0" bIns="0" rtlCol="0" anchor="t"/>
          <a:lstStyle/>
          <a:p>
            <a:pPr indent="0" marL="0">
              <a:buNone/>
            </a:pPr>
            <a:r>
              <a:rPr lang="en-US" sz="1600" b="1" dirty="0">
                <a:solidFill>
                  <a:srgbClr val="0F2A2E"/>
                </a:solidFill>
                <a:latin typeface="Calibri" pitchFamily="34" charset="0"/>
                <a:ea typeface="Calibri" pitchFamily="34" charset="-122"/>
                <a:cs typeface="Calibri" pitchFamily="34" charset="-120"/>
              </a:rPr>
              <a:t>Contexte et objectifs</a:t>
            </a:r>
            <a:endParaRPr lang="en-US" sz="1600" dirty="0"/>
          </a:p>
        </p:txBody>
      </p:sp>
      <p:sp>
        <p:nvSpPr>
          <p:cNvPr id="9" name="Text 6"/>
          <p:cNvSpPr txBox="1"/>
          <p:nvPr/>
        </p:nvSpPr>
        <p:spPr>
          <a:xfrm>
            <a:off x="640080" y="2331720"/>
            <a:ext cx="219456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Ce que le projet doit faire</a:t>
            </a:r>
            <a:endParaRPr lang="en-US" sz="1200" dirty="0"/>
          </a:p>
        </p:txBody>
      </p:sp>
      <p:sp>
        <p:nvSpPr>
          <p:cNvPr id="10" name="Shape 7"/>
          <p:cNvSpPr/>
          <p:nvPr/>
        </p:nvSpPr>
        <p:spPr>
          <a:xfrm>
            <a:off x="3291840" y="1234440"/>
            <a:ext cx="2560320" cy="1463040"/>
          </a:xfrm>
          <a:prstGeom prst="roundRect">
            <a:avLst>
              <a:gd name="adj" fmla="val 5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1" name="Shape 8"/>
          <p:cNvSpPr/>
          <p:nvPr/>
        </p:nvSpPr>
        <p:spPr>
          <a:xfrm>
            <a:off x="3474720" y="1417320"/>
            <a:ext cx="457200" cy="457200"/>
          </a:xfrm>
          <a:prstGeom prst="ellipse">
            <a:avLst/>
          </a:prstGeom>
          <a:solidFill>
            <a:srgbClr val="0E7C7B"/>
          </a:solidFill>
          <a:ln w="12700">
            <a:solidFill>
              <a:srgbClr val="0E7C7B"/>
            </a:solidFill>
            <a:prstDash val="solid"/>
          </a:ln>
        </p:spPr>
      </p:sp>
      <p:sp>
        <p:nvSpPr>
          <p:cNvPr id="12" name="Text 9"/>
          <p:cNvSpPr txBox="1"/>
          <p:nvPr/>
        </p:nvSpPr>
        <p:spPr>
          <a:xfrm>
            <a:off x="347472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3474720" y="2011680"/>
            <a:ext cx="2194560" cy="320040"/>
          </a:xfrm>
          <a:prstGeom prst="rect">
            <a:avLst/>
          </a:prstGeom>
          <a:noFill/>
          <a:ln/>
        </p:spPr>
        <p:txBody>
          <a:bodyPr wrap="square" lIns="0" tIns="0" rIns="0" bIns="0" rtlCol="0" anchor="t"/>
          <a:lstStyle/>
          <a:p>
            <a:pPr indent="0" marL="0">
              <a:buNone/>
            </a:pPr>
            <a:r>
              <a:rPr lang="en-US" sz="1600" b="1" dirty="0">
                <a:solidFill>
                  <a:srgbClr val="0F2A2E"/>
                </a:solidFill>
                <a:latin typeface="Calibri" pitchFamily="34" charset="0"/>
                <a:ea typeface="Calibri" pitchFamily="34" charset="-122"/>
                <a:cs typeface="Calibri" pitchFamily="34" charset="-120"/>
              </a:rPr>
              <a:t>Architecture</a:t>
            </a:r>
            <a:endParaRPr lang="en-US" sz="1600" dirty="0"/>
          </a:p>
        </p:txBody>
      </p:sp>
      <p:sp>
        <p:nvSpPr>
          <p:cNvPr id="14" name="Text 11"/>
          <p:cNvSpPr txBox="1"/>
          <p:nvPr/>
        </p:nvSpPr>
        <p:spPr>
          <a:xfrm>
            <a:off x="3474720" y="2331720"/>
            <a:ext cx="219456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Classes et données</a:t>
            </a:r>
            <a:endParaRPr lang="en-US" sz="1200" dirty="0"/>
          </a:p>
        </p:txBody>
      </p:sp>
      <p:sp>
        <p:nvSpPr>
          <p:cNvPr id="15" name="Shape 12"/>
          <p:cNvSpPr/>
          <p:nvPr/>
        </p:nvSpPr>
        <p:spPr>
          <a:xfrm>
            <a:off x="6126480" y="1234440"/>
            <a:ext cx="2560320" cy="1463040"/>
          </a:xfrm>
          <a:prstGeom prst="roundRect">
            <a:avLst>
              <a:gd name="adj" fmla="val 5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6" name="Shape 13"/>
          <p:cNvSpPr/>
          <p:nvPr/>
        </p:nvSpPr>
        <p:spPr>
          <a:xfrm>
            <a:off x="6309360" y="1417320"/>
            <a:ext cx="457200" cy="457200"/>
          </a:xfrm>
          <a:prstGeom prst="ellipse">
            <a:avLst/>
          </a:prstGeom>
          <a:solidFill>
            <a:srgbClr val="0E7C7B"/>
          </a:solidFill>
          <a:ln w="12700">
            <a:solidFill>
              <a:srgbClr val="0E7C7B"/>
            </a:solidFill>
            <a:prstDash val="solid"/>
          </a:ln>
        </p:spPr>
      </p:sp>
      <p:sp>
        <p:nvSpPr>
          <p:cNvPr id="17" name="Text 14"/>
          <p:cNvSpPr txBox="1"/>
          <p:nvPr/>
        </p:nvSpPr>
        <p:spPr>
          <a:xfrm>
            <a:off x="630936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5"/>
          <p:cNvSpPr txBox="1"/>
          <p:nvPr/>
        </p:nvSpPr>
        <p:spPr>
          <a:xfrm>
            <a:off x="6309360" y="2011680"/>
            <a:ext cx="2194560" cy="320040"/>
          </a:xfrm>
          <a:prstGeom prst="rect">
            <a:avLst/>
          </a:prstGeom>
          <a:noFill/>
          <a:ln/>
        </p:spPr>
        <p:txBody>
          <a:bodyPr wrap="square" lIns="0" tIns="0" rIns="0" bIns="0" rtlCol="0" anchor="t"/>
          <a:lstStyle/>
          <a:p>
            <a:pPr indent="0" marL="0">
              <a:buNone/>
            </a:pPr>
            <a:r>
              <a:rPr lang="en-US" sz="1600" b="1" dirty="0">
                <a:solidFill>
                  <a:srgbClr val="0F2A2E"/>
                </a:solidFill>
                <a:latin typeface="Calibri" pitchFamily="34" charset="0"/>
                <a:ea typeface="Calibri" pitchFamily="34" charset="-122"/>
                <a:cs typeface="Calibri" pitchFamily="34" charset="-120"/>
              </a:rPr>
              <a:t>Sécurité</a:t>
            </a:r>
            <a:endParaRPr lang="en-US" sz="1600" dirty="0"/>
          </a:p>
        </p:txBody>
      </p:sp>
      <p:sp>
        <p:nvSpPr>
          <p:cNvPr id="19" name="Text 16"/>
          <p:cNvSpPr txBox="1"/>
          <p:nvPr/>
        </p:nvSpPr>
        <p:spPr>
          <a:xfrm>
            <a:off x="6309360" y="2331720"/>
            <a:ext cx="219456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Hachage et blocage</a:t>
            </a:r>
            <a:endParaRPr lang="en-US" sz="1200" dirty="0"/>
          </a:p>
        </p:txBody>
      </p:sp>
      <p:sp>
        <p:nvSpPr>
          <p:cNvPr id="20" name="Shape 17"/>
          <p:cNvSpPr/>
          <p:nvPr/>
        </p:nvSpPr>
        <p:spPr>
          <a:xfrm>
            <a:off x="457200" y="2926080"/>
            <a:ext cx="2560320" cy="1463040"/>
          </a:xfrm>
          <a:prstGeom prst="roundRect">
            <a:avLst>
              <a:gd name="adj" fmla="val 5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640080" y="3108960"/>
            <a:ext cx="457200" cy="457200"/>
          </a:xfrm>
          <a:prstGeom prst="ellipse">
            <a:avLst/>
          </a:prstGeom>
          <a:solidFill>
            <a:srgbClr val="0E7C7B"/>
          </a:solidFill>
          <a:ln w="12700">
            <a:solidFill>
              <a:srgbClr val="0E7C7B"/>
            </a:solidFill>
            <a:prstDash val="solid"/>
          </a:ln>
        </p:spPr>
      </p:sp>
      <p:sp>
        <p:nvSpPr>
          <p:cNvPr id="22" name="Text 19"/>
          <p:cNvSpPr txBox="1"/>
          <p:nvPr/>
        </p:nvSpPr>
        <p:spPr>
          <a:xfrm>
            <a:off x="64008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3" name="Text 20"/>
          <p:cNvSpPr txBox="1"/>
          <p:nvPr/>
        </p:nvSpPr>
        <p:spPr>
          <a:xfrm>
            <a:off x="640080" y="3703320"/>
            <a:ext cx="2194560" cy="320040"/>
          </a:xfrm>
          <a:prstGeom prst="rect">
            <a:avLst/>
          </a:prstGeom>
          <a:noFill/>
          <a:ln/>
        </p:spPr>
        <p:txBody>
          <a:bodyPr wrap="square" lIns="0" tIns="0" rIns="0" bIns="0" rtlCol="0" anchor="t"/>
          <a:lstStyle/>
          <a:p>
            <a:pPr indent="0" marL="0">
              <a:buNone/>
            </a:pPr>
            <a:r>
              <a:rPr lang="en-US" sz="1600" b="1" dirty="0">
                <a:solidFill>
                  <a:srgbClr val="0F2A2E"/>
                </a:solidFill>
                <a:latin typeface="Calibri" pitchFamily="34" charset="0"/>
                <a:ea typeface="Calibri" pitchFamily="34" charset="-122"/>
                <a:cs typeface="Calibri" pitchFamily="34" charset="-120"/>
              </a:rPr>
              <a:t>Opérations</a:t>
            </a:r>
            <a:endParaRPr lang="en-US" sz="1600" dirty="0"/>
          </a:p>
        </p:txBody>
      </p:sp>
      <p:sp>
        <p:nvSpPr>
          <p:cNvPr id="24" name="Text 21"/>
          <p:cNvSpPr txBox="1"/>
          <p:nvPr/>
        </p:nvSpPr>
        <p:spPr>
          <a:xfrm>
            <a:off x="640080" y="4023360"/>
            <a:ext cx="219456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Dépôt, retrait, virement</a:t>
            </a:r>
            <a:endParaRPr lang="en-US" sz="1200" dirty="0"/>
          </a:p>
        </p:txBody>
      </p:sp>
      <p:sp>
        <p:nvSpPr>
          <p:cNvPr id="25" name="Shape 22"/>
          <p:cNvSpPr/>
          <p:nvPr/>
        </p:nvSpPr>
        <p:spPr>
          <a:xfrm>
            <a:off x="3291840" y="2926080"/>
            <a:ext cx="2560320" cy="1463040"/>
          </a:xfrm>
          <a:prstGeom prst="roundRect">
            <a:avLst>
              <a:gd name="adj" fmla="val 5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6" name="Shape 23"/>
          <p:cNvSpPr/>
          <p:nvPr/>
        </p:nvSpPr>
        <p:spPr>
          <a:xfrm>
            <a:off x="3474720" y="3108960"/>
            <a:ext cx="457200" cy="457200"/>
          </a:xfrm>
          <a:prstGeom prst="ellipse">
            <a:avLst/>
          </a:prstGeom>
          <a:solidFill>
            <a:srgbClr val="0E7C7B"/>
          </a:solidFill>
          <a:ln w="12700">
            <a:solidFill>
              <a:srgbClr val="0E7C7B"/>
            </a:solidFill>
            <a:prstDash val="solid"/>
          </a:ln>
        </p:spPr>
      </p:sp>
      <p:sp>
        <p:nvSpPr>
          <p:cNvPr id="27" name="Text 24"/>
          <p:cNvSpPr txBox="1"/>
          <p:nvPr/>
        </p:nvSpPr>
        <p:spPr>
          <a:xfrm>
            <a:off x="347472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8" name="Text 25"/>
          <p:cNvSpPr txBox="1"/>
          <p:nvPr/>
        </p:nvSpPr>
        <p:spPr>
          <a:xfrm>
            <a:off x="3474720" y="3703320"/>
            <a:ext cx="2194560" cy="320040"/>
          </a:xfrm>
          <a:prstGeom prst="rect">
            <a:avLst/>
          </a:prstGeom>
          <a:noFill/>
          <a:ln/>
        </p:spPr>
        <p:txBody>
          <a:bodyPr wrap="square" lIns="0" tIns="0" rIns="0" bIns="0" rtlCol="0" anchor="t"/>
          <a:lstStyle/>
          <a:p>
            <a:pPr indent="0" marL="0">
              <a:buNone/>
            </a:pPr>
            <a:r>
              <a:rPr lang="en-US" sz="1600" b="1" dirty="0">
                <a:solidFill>
                  <a:srgbClr val="0F2A2E"/>
                </a:solidFill>
                <a:latin typeface="Calibri" pitchFamily="34" charset="0"/>
                <a:ea typeface="Calibri" pitchFamily="34" charset="-122"/>
                <a:cs typeface="Calibri" pitchFamily="34" charset="-120"/>
              </a:rPr>
              <a:t>Détection de fraude</a:t>
            </a:r>
            <a:endParaRPr lang="en-US" sz="1600" dirty="0"/>
          </a:p>
        </p:txBody>
      </p:sp>
      <p:sp>
        <p:nvSpPr>
          <p:cNvPr id="29" name="Text 26"/>
          <p:cNvSpPr txBox="1"/>
          <p:nvPr/>
        </p:nvSpPr>
        <p:spPr>
          <a:xfrm>
            <a:off x="3474720" y="4023360"/>
            <a:ext cx="219456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Deux règles simples</a:t>
            </a:r>
            <a:endParaRPr lang="en-US" sz="1200" dirty="0"/>
          </a:p>
        </p:txBody>
      </p:sp>
      <p:sp>
        <p:nvSpPr>
          <p:cNvPr id="30" name="Shape 27"/>
          <p:cNvSpPr/>
          <p:nvPr/>
        </p:nvSpPr>
        <p:spPr>
          <a:xfrm>
            <a:off x="6126480" y="2926080"/>
            <a:ext cx="2560320" cy="1463040"/>
          </a:xfrm>
          <a:prstGeom prst="roundRect">
            <a:avLst>
              <a:gd name="adj" fmla="val 5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31" name="Shape 28"/>
          <p:cNvSpPr/>
          <p:nvPr/>
        </p:nvSpPr>
        <p:spPr>
          <a:xfrm>
            <a:off x="6309360" y="3108960"/>
            <a:ext cx="457200" cy="457200"/>
          </a:xfrm>
          <a:prstGeom prst="ellipse">
            <a:avLst/>
          </a:prstGeom>
          <a:solidFill>
            <a:srgbClr val="0E7C7B"/>
          </a:solidFill>
          <a:ln w="12700">
            <a:solidFill>
              <a:srgbClr val="0E7C7B"/>
            </a:solidFill>
            <a:prstDash val="solid"/>
          </a:ln>
        </p:spPr>
      </p:sp>
      <p:sp>
        <p:nvSpPr>
          <p:cNvPr id="32" name="Text 29"/>
          <p:cNvSpPr txBox="1"/>
          <p:nvPr/>
        </p:nvSpPr>
        <p:spPr>
          <a:xfrm>
            <a:off x="630936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3" name="Text 30"/>
          <p:cNvSpPr txBox="1"/>
          <p:nvPr/>
        </p:nvSpPr>
        <p:spPr>
          <a:xfrm>
            <a:off x="6309360" y="3703320"/>
            <a:ext cx="2194560" cy="320040"/>
          </a:xfrm>
          <a:prstGeom prst="rect">
            <a:avLst/>
          </a:prstGeom>
          <a:noFill/>
          <a:ln/>
        </p:spPr>
        <p:txBody>
          <a:bodyPr wrap="square" lIns="0" tIns="0" rIns="0" bIns="0" rtlCol="0" anchor="t"/>
          <a:lstStyle/>
          <a:p>
            <a:pPr indent="0" marL="0">
              <a:buNone/>
            </a:pPr>
            <a:r>
              <a:rPr lang="en-US" sz="1600" b="1" dirty="0">
                <a:solidFill>
                  <a:srgbClr val="0F2A2E"/>
                </a:solidFill>
                <a:latin typeface="Calibri" pitchFamily="34" charset="0"/>
                <a:ea typeface="Calibri" pitchFamily="34" charset="-122"/>
                <a:cs typeface="Calibri" pitchFamily="34" charset="-120"/>
              </a:rPr>
              <a:t>Démonstration</a:t>
            </a:r>
            <a:endParaRPr lang="en-US" sz="1600" dirty="0"/>
          </a:p>
        </p:txBody>
      </p:sp>
      <p:sp>
        <p:nvSpPr>
          <p:cNvPr id="34" name="Text 31"/>
          <p:cNvSpPr txBox="1"/>
          <p:nvPr/>
        </p:nvSpPr>
        <p:spPr>
          <a:xfrm>
            <a:off x="6309360" y="4023360"/>
            <a:ext cx="219456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Tests et conclusion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Contexte et objectifs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88720"/>
            <a:ext cx="3383280" cy="3337560"/>
          </a:xfrm>
          <a:prstGeom prst="roundRect">
            <a:avLst>
              <a:gd name="adj" fmla="val 2192"/>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685800" y="1371600"/>
            <a:ext cx="2926080" cy="320040"/>
          </a:xfrm>
          <a:prstGeom prst="rect">
            <a:avLst/>
          </a:prstGeom>
          <a:noFill/>
          <a:ln/>
        </p:spPr>
        <p:txBody>
          <a:bodyPr wrap="square" lIns="0" tIns="0" rIns="0" bIns="0" rtlCol="0" anchor="t"/>
          <a:lstStyle/>
          <a:p>
            <a:pPr indent="0" marL="0">
              <a:buNone/>
            </a:pPr>
            <a:r>
              <a:rPr lang="en-US" sz="1800" b="1" dirty="0">
                <a:solidFill>
                  <a:srgbClr val="0E7C7B"/>
                </a:solidFill>
                <a:latin typeface="Cambria" pitchFamily="34" charset="0"/>
                <a:ea typeface="Cambria" pitchFamily="34" charset="-122"/>
                <a:cs typeface="Cambria" pitchFamily="34" charset="-120"/>
              </a:rPr>
              <a:t>Le sujet</a:t>
            </a:r>
            <a:endParaRPr lang="en-US" sz="1800" dirty="0"/>
          </a:p>
        </p:txBody>
      </p:sp>
      <p:sp>
        <p:nvSpPr>
          <p:cNvPr id="7" name="Text 4"/>
          <p:cNvSpPr txBox="1"/>
          <p:nvPr/>
        </p:nvSpPr>
        <p:spPr>
          <a:xfrm>
            <a:off x="685800" y="1783080"/>
            <a:ext cx="2926080" cy="1188720"/>
          </a:xfrm>
          <a:prstGeom prst="rect">
            <a:avLst/>
          </a:prstGeom>
          <a:noFill/>
          <a:ln/>
        </p:spPr>
        <p:txBody>
          <a:bodyPr wrap="square" lIns="0" tIns="0" rIns="0" bIns="0" rtlCol="0" anchor="t"/>
          <a:lstStyle/>
          <a:p>
            <a:pPr indent="0" marL="0">
              <a:buNone/>
            </a:pPr>
            <a:r>
              <a:rPr lang="en-US" sz="1400" dirty="0">
                <a:solidFill>
                  <a:srgbClr val="1F2D2F"/>
                </a:solidFill>
                <a:latin typeface="Calibri" pitchFamily="34" charset="0"/>
                <a:ea typeface="Calibri" pitchFamily="34" charset="-122"/>
                <a:cs typeface="Calibri" pitchFamily="34" charset="-120"/>
              </a:rPr>
              <a:t>Simuler un système bancaire simple et sécurisé : chaque opération est vérifiée, enregistrée, et les comportements suspects sont détectés.</a:t>
            </a:r>
            <a:endParaRPr lang="en-US" sz="1400" dirty="0"/>
          </a:p>
        </p:txBody>
      </p:sp>
      <p:sp>
        <p:nvSpPr>
          <p:cNvPr id="8" name="Text 5"/>
          <p:cNvSpPr txBox="1"/>
          <p:nvPr/>
        </p:nvSpPr>
        <p:spPr>
          <a:xfrm>
            <a:off x="685800" y="3154680"/>
            <a:ext cx="2926080" cy="1097280"/>
          </a:xfrm>
          <a:prstGeom prst="rect">
            <a:avLst/>
          </a:prstGeom>
          <a:noFill/>
          <a:ln/>
        </p:spPr>
        <p:txBody>
          <a:bodyPr wrap="square" lIns="0" tIns="0" rIns="0" bIns="0" rtlCol="0" anchor="t"/>
          <a:lstStyle/>
          <a:p>
            <a:pPr indent="0" marL="0">
              <a:buNone/>
            </a:pPr>
            <a:r>
              <a:rPr lang="en-US" sz="1400" b="1" dirty="0">
                <a:solidFill>
                  <a:srgbClr val="0E7C7B"/>
                </a:solidFill>
                <a:latin typeface="Calibri" pitchFamily="34" charset="0"/>
                <a:ea typeface="Calibri" pitchFamily="34" charset="-122"/>
                <a:cs typeface="Calibri" pitchFamily="34" charset="-120"/>
              </a:rPr>
              <a:t>Contrainte : </a:t>
            </a:r>
            <a:pPr indent="0" marL="0">
              <a:buNone/>
            </a:pPr>
            <a:r>
              <a:rPr lang="en-US" sz="1400" dirty="0">
                <a:solidFill>
                  <a:srgbClr val="1F2D2F"/>
                </a:solidFill>
                <a:latin typeface="Calibri" pitchFamily="34" charset="0"/>
                <a:ea typeface="Calibri" pitchFamily="34" charset="-122"/>
                <a:cs typeface="Calibri" pitchFamily="34" charset="-120"/>
              </a:rPr>
              <a:t>comptes et transactions stockés dans des tableaux Java.</a:t>
            </a:r>
            <a:endParaRPr lang="en-US" sz="1400" dirty="0"/>
          </a:p>
        </p:txBody>
      </p:sp>
      <p:sp>
        <p:nvSpPr>
          <p:cNvPr id="9" name="Shape 6"/>
          <p:cNvSpPr/>
          <p:nvPr/>
        </p:nvSpPr>
        <p:spPr>
          <a:xfrm>
            <a:off x="4114800" y="118872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4251960" y="1325880"/>
            <a:ext cx="457200" cy="457200"/>
          </a:xfrm>
          <a:prstGeom prst="ellipse">
            <a:avLst/>
          </a:prstGeom>
          <a:solidFill>
            <a:srgbClr val="0E7C7B"/>
          </a:solidFill>
          <a:ln w="12700">
            <a:solidFill>
              <a:srgbClr val="0E7C7B"/>
            </a:solidFill>
            <a:prstDash val="solid"/>
          </a:ln>
        </p:spPr>
      </p:sp>
      <p:pic>
        <p:nvPicPr>
          <p:cNvPr id="11" name="Image 0" descr="preencoded.png">    </p:cNvPr>
          <p:cNvPicPr>
            <a:picLocks noChangeAspect="1"/>
          </p:cNvPicPr>
          <p:nvPr/>
        </p:nvPicPr>
        <p:blipFill>
          <a:blip r:embed="rId1"/>
          <a:stretch>
            <a:fillRect/>
          </a:stretch>
        </p:blipFill>
        <p:spPr>
          <a:xfrm>
            <a:off x="4375404" y="1449324"/>
            <a:ext cx="210312" cy="210312"/>
          </a:xfrm>
          <a:prstGeom prst="rect">
            <a:avLst/>
          </a:prstGeom>
        </p:spPr>
      </p:pic>
      <p:sp>
        <p:nvSpPr>
          <p:cNvPr id="12" name="Text 8"/>
          <p:cNvSpPr txBox="1"/>
          <p:nvPr/>
        </p:nvSpPr>
        <p:spPr>
          <a:xfrm>
            <a:off x="4828032" y="128016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Créer un compte</a:t>
            </a:r>
            <a:endParaRPr lang="en-US" sz="1300" dirty="0"/>
          </a:p>
        </p:txBody>
      </p:sp>
      <p:sp>
        <p:nvSpPr>
          <p:cNvPr id="13" name="Shape 9"/>
          <p:cNvSpPr/>
          <p:nvPr/>
        </p:nvSpPr>
        <p:spPr>
          <a:xfrm>
            <a:off x="4114800" y="205740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4251960" y="2194560"/>
            <a:ext cx="457200" cy="457200"/>
          </a:xfrm>
          <a:prstGeom prst="ellipse">
            <a:avLst/>
          </a:prstGeom>
          <a:solidFill>
            <a:srgbClr val="0E7C7B"/>
          </a:solidFill>
          <a:ln w="12700">
            <a:solidFill>
              <a:srgbClr val="0E7C7B"/>
            </a:solidFill>
            <a:prstDash val="solid"/>
          </a:ln>
        </p:spPr>
      </p:sp>
      <p:pic>
        <p:nvPicPr>
          <p:cNvPr id="15" name="Image 1" descr="preencoded.png">    </p:cNvPr>
          <p:cNvPicPr>
            <a:picLocks noChangeAspect="1"/>
          </p:cNvPicPr>
          <p:nvPr/>
        </p:nvPicPr>
        <p:blipFill>
          <a:blip r:embed="rId2"/>
          <a:stretch>
            <a:fillRect/>
          </a:stretch>
        </p:blipFill>
        <p:spPr>
          <a:xfrm>
            <a:off x="4375404" y="2318004"/>
            <a:ext cx="210312" cy="210312"/>
          </a:xfrm>
          <a:prstGeom prst="rect">
            <a:avLst/>
          </a:prstGeom>
        </p:spPr>
      </p:pic>
      <p:sp>
        <p:nvSpPr>
          <p:cNvPr id="16" name="Text 11"/>
          <p:cNvSpPr txBox="1"/>
          <p:nvPr/>
        </p:nvSpPr>
        <p:spPr>
          <a:xfrm>
            <a:off x="4828032" y="214884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S'authentifier</a:t>
            </a:r>
            <a:endParaRPr lang="en-US" sz="1300" dirty="0"/>
          </a:p>
        </p:txBody>
      </p:sp>
      <p:sp>
        <p:nvSpPr>
          <p:cNvPr id="17" name="Shape 12"/>
          <p:cNvSpPr/>
          <p:nvPr/>
        </p:nvSpPr>
        <p:spPr>
          <a:xfrm>
            <a:off x="4114800" y="292608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8" name="Shape 13"/>
          <p:cNvSpPr/>
          <p:nvPr/>
        </p:nvSpPr>
        <p:spPr>
          <a:xfrm>
            <a:off x="4251960" y="3063240"/>
            <a:ext cx="457200" cy="457200"/>
          </a:xfrm>
          <a:prstGeom prst="ellipse">
            <a:avLst/>
          </a:prstGeom>
          <a:solidFill>
            <a:srgbClr val="0E7C7B"/>
          </a:solidFill>
          <a:ln w="12700">
            <a:solidFill>
              <a:srgbClr val="0E7C7B"/>
            </a:solidFill>
            <a:prstDash val="solid"/>
          </a:ln>
        </p:spPr>
      </p:sp>
      <p:pic>
        <p:nvPicPr>
          <p:cNvPr id="19" name="Image 2" descr="preencoded.png">    </p:cNvPr>
          <p:cNvPicPr>
            <a:picLocks noChangeAspect="1"/>
          </p:cNvPicPr>
          <p:nvPr/>
        </p:nvPicPr>
        <p:blipFill>
          <a:blip r:embed="rId3"/>
          <a:stretch>
            <a:fillRect/>
          </a:stretch>
        </p:blipFill>
        <p:spPr>
          <a:xfrm>
            <a:off x="4375404" y="3186684"/>
            <a:ext cx="210312" cy="210312"/>
          </a:xfrm>
          <a:prstGeom prst="rect">
            <a:avLst/>
          </a:prstGeom>
        </p:spPr>
      </p:pic>
      <p:sp>
        <p:nvSpPr>
          <p:cNvPr id="20" name="Text 14"/>
          <p:cNvSpPr txBox="1"/>
          <p:nvPr/>
        </p:nvSpPr>
        <p:spPr>
          <a:xfrm>
            <a:off x="4828032" y="301752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Consulter le solde</a:t>
            </a:r>
            <a:endParaRPr lang="en-US" sz="1300" dirty="0"/>
          </a:p>
        </p:txBody>
      </p:sp>
      <p:sp>
        <p:nvSpPr>
          <p:cNvPr id="21" name="Shape 15"/>
          <p:cNvSpPr/>
          <p:nvPr/>
        </p:nvSpPr>
        <p:spPr>
          <a:xfrm>
            <a:off x="4114800" y="379476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2" name="Shape 16"/>
          <p:cNvSpPr/>
          <p:nvPr/>
        </p:nvSpPr>
        <p:spPr>
          <a:xfrm>
            <a:off x="4251960" y="3931920"/>
            <a:ext cx="457200" cy="457200"/>
          </a:xfrm>
          <a:prstGeom prst="ellipse">
            <a:avLst/>
          </a:prstGeom>
          <a:solidFill>
            <a:srgbClr val="0E7C7B"/>
          </a:solidFill>
          <a:ln w="12700">
            <a:solidFill>
              <a:srgbClr val="0E7C7B"/>
            </a:solidFill>
            <a:prstDash val="solid"/>
          </a:ln>
        </p:spPr>
      </p:sp>
      <p:pic>
        <p:nvPicPr>
          <p:cNvPr id="23" name="Image 3" descr="preencoded.png">    </p:cNvPr>
          <p:cNvPicPr>
            <a:picLocks noChangeAspect="1"/>
          </p:cNvPicPr>
          <p:nvPr/>
        </p:nvPicPr>
        <p:blipFill>
          <a:blip r:embed="rId4"/>
          <a:stretch>
            <a:fillRect/>
          </a:stretch>
        </p:blipFill>
        <p:spPr>
          <a:xfrm>
            <a:off x="4375404" y="4055364"/>
            <a:ext cx="210312" cy="210312"/>
          </a:xfrm>
          <a:prstGeom prst="rect">
            <a:avLst/>
          </a:prstGeom>
        </p:spPr>
      </p:pic>
      <p:sp>
        <p:nvSpPr>
          <p:cNvPr id="24" name="Text 17"/>
          <p:cNvSpPr txBox="1"/>
          <p:nvPr/>
        </p:nvSpPr>
        <p:spPr>
          <a:xfrm>
            <a:off x="4828032" y="388620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Dépôt · retrait · virement</a:t>
            </a:r>
            <a:endParaRPr lang="en-US" sz="1300" dirty="0"/>
          </a:p>
        </p:txBody>
      </p:sp>
      <p:sp>
        <p:nvSpPr>
          <p:cNvPr id="25" name="Shape 18"/>
          <p:cNvSpPr/>
          <p:nvPr/>
        </p:nvSpPr>
        <p:spPr>
          <a:xfrm>
            <a:off x="6446520" y="118872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6" name="Shape 19"/>
          <p:cNvSpPr/>
          <p:nvPr/>
        </p:nvSpPr>
        <p:spPr>
          <a:xfrm>
            <a:off x="6583680" y="1325880"/>
            <a:ext cx="457200" cy="457200"/>
          </a:xfrm>
          <a:prstGeom prst="ellipse">
            <a:avLst/>
          </a:prstGeom>
          <a:solidFill>
            <a:srgbClr val="0E7C7B"/>
          </a:solidFill>
          <a:ln w="12700">
            <a:solidFill>
              <a:srgbClr val="0E7C7B"/>
            </a:solidFill>
            <a:prstDash val="solid"/>
          </a:ln>
        </p:spPr>
      </p:sp>
      <p:pic>
        <p:nvPicPr>
          <p:cNvPr id="27" name="Image 4" descr="preencoded.png">    </p:cNvPr>
          <p:cNvPicPr>
            <a:picLocks noChangeAspect="1"/>
          </p:cNvPicPr>
          <p:nvPr/>
        </p:nvPicPr>
        <p:blipFill>
          <a:blip r:embed="rId5"/>
          <a:stretch>
            <a:fillRect/>
          </a:stretch>
        </p:blipFill>
        <p:spPr>
          <a:xfrm>
            <a:off x="6707124" y="1449324"/>
            <a:ext cx="210312" cy="210312"/>
          </a:xfrm>
          <a:prstGeom prst="rect">
            <a:avLst/>
          </a:prstGeom>
        </p:spPr>
      </p:pic>
      <p:sp>
        <p:nvSpPr>
          <p:cNvPr id="28" name="Text 20"/>
          <p:cNvSpPr txBox="1"/>
          <p:nvPr/>
        </p:nvSpPr>
        <p:spPr>
          <a:xfrm>
            <a:off x="7159752" y="128016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Historique</a:t>
            </a:r>
            <a:endParaRPr lang="en-US" sz="1300" dirty="0"/>
          </a:p>
        </p:txBody>
      </p:sp>
      <p:sp>
        <p:nvSpPr>
          <p:cNvPr id="29" name="Shape 21"/>
          <p:cNvSpPr/>
          <p:nvPr/>
        </p:nvSpPr>
        <p:spPr>
          <a:xfrm>
            <a:off x="6446520" y="205740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30" name="Shape 22"/>
          <p:cNvSpPr/>
          <p:nvPr/>
        </p:nvSpPr>
        <p:spPr>
          <a:xfrm>
            <a:off x="6583680" y="2194560"/>
            <a:ext cx="457200" cy="457200"/>
          </a:xfrm>
          <a:prstGeom prst="ellipse">
            <a:avLst/>
          </a:prstGeom>
          <a:solidFill>
            <a:srgbClr val="0E7C7B"/>
          </a:solidFill>
          <a:ln w="12700">
            <a:solidFill>
              <a:srgbClr val="0E7C7B"/>
            </a:solidFill>
            <a:prstDash val="solid"/>
          </a:ln>
        </p:spPr>
      </p:sp>
      <p:pic>
        <p:nvPicPr>
          <p:cNvPr id="31" name="Image 5" descr="preencoded.png">    </p:cNvPr>
          <p:cNvPicPr>
            <a:picLocks noChangeAspect="1"/>
          </p:cNvPicPr>
          <p:nvPr/>
        </p:nvPicPr>
        <p:blipFill>
          <a:blip r:embed="rId6"/>
          <a:stretch>
            <a:fillRect/>
          </a:stretch>
        </p:blipFill>
        <p:spPr>
          <a:xfrm>
            <a:off x="6707124" y="2318004"/>
            <a:ext cx="210312" cy="210312"/>
          </a:xfrm>
          <a:prstGeom prst="rect">
            <a:avLst/>
          </a:prstGeom>
        </p:spPr>
      </p:pic>
      <p:sp>
        <p:nvSpPr>
          <p:cNvPr id="32" name="Text 23"/>
          <p:cNvSpPr txBox="1"/>
          <p:nvPr/>
        </p:nvSpPr>
        <p:spPr>
          <a:xfrm>
            <a:off x="7159752" y="214884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Détecter la fraude</a:t>
            </a:r>
            <a:endParaRPr lang="en-US" sz="1300" dirty="0"/>
          </a:p>
        </p:txBody>
      </p:sp>
      <p:sp>
        <p:nvSpPr>
          <p:cNvPr id="33" name="Shape 24"/>
          <p:cNvSpPr/>
          <p:nvPr/>
        </p:nvSpPr>
        <p:spPr>
          <a:xfrm>
            <a:off x="6446520" y="292608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34" name="Shape 25"/>
          <p:cNvSpPr/>
          <p:nvPr/>
        </p:nvSpPr>
        <p:spPr>
          <a:xfrm>
            <a:off x="6583680" y="3063240"/>
            <a:ext cx="457200" cy="457200"/>
          </a:xfrm>
          <a:prstGeom prst="ellipse">
            <a:avLst/>
          </a:prstGeom>
          <a:solidFill>
            <a:srgbClr val="0E7C7B"/>
          </a:solidFill>
          <a:ln w="12700">
            <a:solidFill>
              <a:srgbClr val="0E7C7B"/>
            </a:solidFill>
            <a:prstDash val="solid"/>
          </a:ln>
        </p:spPr>
      </p:sp>
      <p:pic>
        <p:nvPicPr>
          <p:cNvPr id="35" name="Image 6" descr="preencoded.png">    </p:cNvPr>
          <p:cNvPicPr>
            <a:picLocks noChangeAspect="1"/>
          </p:cNvPicPr>
          <p:nvPr/>
        </p:nvPicPr>
        <p:blipFill>
          <a:blip r:embed="rId7"/>
          <a:stretch>
            <a:fillRect/>
          </a:stretch>
        </p:blipFill>
        <p:spPr>
          <a:xfrm>
            <a:off x="6707124" y="3186684"/>
            <a:ext cx="210312" cy="210312"/>
          </a:xfrm>
          <a:prstGeom prst="rect">
            <a:avLst/>
          </a:prstGeom>
        </p:spPr>
      </p:pic>
      <p:sp>
        <p:nvSpPr>
          <p:cNvPr id="36" name="Text 26"/>
          <p:cNvSpPr txBox="1"/>
          <p:nvPr/>
        </p:nvSpPr>
        <p:spPr>
          <a:xfrm>
            <a:off x="7159752" y="301752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Administrer</a:t>
            </a:r>
            <a:endParaRPr lang="en-US" sz="1300" dirty="0"/>
          </a:p>
        </p:txBody>
      </p:sp>
      <p:sp>
        <p:nvSpPr>
          <p:cNvPr id="37" name="Shape 27"/>
          <p:cNvSpPr/>
          <p:nvPr/>
        </p:nvSpPr>
        <p:spPr>
          <a:xfrm>
            <a:off x="6446520" y="3794760"/>
            <a:ext cx="2194560" cy="731520"/>
          </a:xfrm>
          <a:prstGeom prst="roundRect">
            <a:avLst>
              <a:gd name="adj" fmla="val 10000"/>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38" name="Shape 28"/>
          <p:cNvSpPr/>
          <p:nvPr/>
        </p:nvSpPr>
        <p:spPr>
          <a:xfrm>
            <a:off x="6583680" y="3931920"/>
            <a:ext cx="457200" cy="457200"/>
          </a:xfrm>
          <a:prstGeom prst="ellipse">
            <a:avLst/>
          </a:prstGeom>
          <a:solidFill>
            <a:srgbClr val="0E7C7B"/>
          </a:solidFill>
          <a:ln w="12700">
            <a:solidFill>
              <a:srgbClr val="0E7C7B"/>
            </a:solidFill>
            <a:prstDash val="solid"/>
          </a:ln>
        </p:spPr>
      </p:sp>
      <p:pic>
        <p:nvPicPr>
          <p:cNvPr id="39" name="Image 7" descr="preencoded.png">    </p:cNvPr>
          <p:cNvPicPr>
            <a:picLocks noChangeAspect="1"/>
          </p:cNvPicPr>
          <p:nvPr/>
        </p:nvPicPr>
        <p:blipFill>
          <a:blip r:embed="rId8"/>
          <a:stretch>
            <a:fillRect/>
          </a:stretch>
        </p:blipFill>
        <p:spPr>
          <a:xfrm>
            <a:off x="6707124" y="4055364"/>
            <a:ext cx="210312" cy="210312"/>
          </a:xfrm>
          <a:prstGeom prst="rect">
            <a:avLst/>
          </a:prstGeom>
        </p:spPr>
      </p:pic>
      <p:sp>
        <p:nvSpPr>
          <p:cNvPr id="40" name="Text 29"/>
          <p:cNvSpPr txBox="1"/>
          <p:nvPr/>
        </p:nvSpPr>
        <p:spPr>
          <a:xfrm>
            <a:off x="7159752" y="3886200"/>
            <a:ext cx="1417320" cy="548640"/>
          </a:xfrm>
          <a:prstGeom prst="rect">
            <a:avLst/>
          </a:prstGeom>
          <a:noFill/>
          <a:ln/>
        </p:spPr>
        <p:txBody>
          <a:bodyPr wrap="square" lIns="0" tIns="0" rIns="0" bIns="0" rtlCol="0" anchor="ctr"/>
          <a:lstStyle/>
          <a:p>
            <a:pPr indent="0" marL="0">
              <a:buNone/>
            </a:pPr>
            <a:r>
              <a:rPr lang="en-US" sz="1300" b="1" dirty="0">
                <a:solidFill>
                  <a:srgbClr val="1F2D2F"/>
                </a:solidFill>
                <a:latin typeface="Calibri" pitchFamily="34" charset="0"/>
                <a:ea typeface="Calibri" pitchFamily="34" charset="-122"/>
                <a:cs typeface="Calibri" pitchFamily="34" charset="-120"/>
              </a:rPr>
              <a:t>Journal et relevés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Architecture du système</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3200400" y="1097280"/>
            <a:ext cx="2743200" cy="640080"/>
          </a:xfrm>
          <a:prstGeom prst="roundRect">
            <a:avLst>
              <a:gd name="adj" fmla="val 11429"/>
            </a:avLst>
          </a:prstGeom>
          <a:solidFill>
            <a:srgbClr val="0F2A2E"/>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3200400" y="1097280"/>
            <a:ext cx="274320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Main</a:t>
            </a:r>
            <a:endParaRPr lang="en-US" sz="1400" dirty="0"/>
          </a:p>
          <a:p>
            <a:pPr algn="ctr" indent="0" marL="0">
              <a:buNone/>
            </a:pPr>
            <a:r>
              <a:rPr lang="en-US" sz="1100" dirty="0">
                <a:solidFill>
                  <a:srgbClr val="CFE3E1"/>
                </a:solidFill>
                <a:latin typeface="Calibri" pitchFamily="34" charset="0"/>
                <a:ea typeface="Calibri" pitchFamily="34" charset="-122"/>
                <a:cs typeface="Calibri" pitchFamily="34" charset="-120"/>
              </a:rPr>
              <a:t>Menus et saisies (console)</a:t>
            </a:r>
            <a:endParaRPr lang="en-US" sz="1400" dirty="0"/>
          </a:p>
        </p:txBody>
      </p:sp>
      <p:sp>
        <p:nvSpPr>
          <p:cNvPr id="7" name="Shape 4"/>
          <p:cNvSpPr/>
          <p:nvPr/>
        </p:nvSpPr>
        <p:spPr>
          <a:xfrm>
            <a:off x="4572000" y="1737360"/>
            <a:ext cx="0" cy="502920"/>
          </a:xfrm>
          <a:prstGeom prst="line">
            <a:avLst/>
          </a:prstGeom>
          <a:noFill/>
          <a:ln w="25400">
            <a:solidFill>
              <a:srgbClr val="0E7C7B"/>
            </a:solidFill>
            <a:prstDash val="solid"/>
          </a:ln>
        </p:spPr>
      </p:sp>
      <p:sp>
        <p:nvSpPr>
          <p:cNvPr id="8" name="Shape 5"/>
          <p:cNvSpPr/>
          <p:nvPr/>
        </p:nvSpPr>
        <p:spPr>
          <a:xfrm>
            <a:off x="457200" y="2240280"/>
            <a:ext cx="8229600" cy="777240"/>
          </a:xfrm>
          <a:prstGeom prst="roundRect">
            <a:avLst>
              <a:gd name="adj" fmla="val 9412"/>
            </a:avLst>
          </a:prstGeom>
          <a:solidFill>
            <a:srgbClr val="0E7C7B"/>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57200" y="2240280"/>
            <a:ext cx="8229600"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Banque</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Logique métier : opérations, fraude, administration, export</a:t>
            </a:r>
            <a:endParaRPr lang="en-US" sz="1400" dirty="0"/>
          </a:p>
        </p:txBody>
      </p:sp>
      <p:sp>
        <p:nvSpPr>
          <p:cNvPr id="10" name="Shape 7"/>
          <p:cNvSpPr/>
          <p:nvPr/>
        </p:nvSpPr>
        <p:spPr>
          <a:xfrm>
            <a:off x="1371600" y="3017520"/>
            <a:ext cx="0" cy="548640"/>
          </a:xfrm>
          <a:prstGeom prst="line">
            <a:avLst/>
          </a:prstGeom>
          <a:noFill/>
          <a:ln w="25400">
            <a:solidFill>
              <a:srgbClr val="0E7C7B"/>
            </a:solidFill>
            <a:prstDash val="solid"/>
          </a:ln>
        </p:spPr>
      </p:sp>
      <p:sp>
        <p:nvSpPr>
          <p:cNvPr id="11" name="Shape 8"/>
          <p:cNvSpPr/>
          <p:nvPr/>
        </p:nvSpPr>
        <p:spPr>
          <a:xfrm>
            <a:off x="457200" y="3566160"/>
            <a:ext cx="1828800" cy="960120"/>
          </a:xfrm>
          <a:prstGeom prst="roundRect">
            <a:avLst>
              <a:gd name="adj" fmla="val 7619"/>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457200" y="3675888"/>
            <a:ext cx="1828800" cy="320040"/>
          </a:xfrm>
          <a:prstGeom prst="rect">
            <a:avLst/>
          </a:prstGeom>
          <a:noFill/>
          <a:ln/>
        </p:spPr>
        <p:txBody>
          <a:bodyPr wrap="square" lIns="0" tIns="0" rIns="0" bIns="0" rtlCol="0" anchor="t"/>
          <a:lstStyle/>
          <a:p>
            <a:pPr algn="ctr" indent="0" marL="0">
              <a:buNone/>
            </a:pPr>
            <a:r>
              <a:rPr lang="en-US" sz="1400" b="1" dirty="0">
                <a:solidFill>
                  <a:srgbClr val="0F2A2E"/>
                </a:solidFill>
                <a:latin typeface="Courier New" pitchFamily="34" charset="0"/>
                <a:ea typeface="Courier New" pitchFamily="34" charset="-122"/>
                <a:cs typeface="Courier New" pitchFamily="34" charset="-120"/>
              </a:rPr>
              <a:t>Compte[100]</a:t>
            </a:r>
            <a:endParaRPr lang="en-US" sz="1400" dirty="0"/>
          </a:p>
        </p:txBody>
      </p:sp>
      <p:sp>
        <p:nvSpPr>
          <p:cNvPr id="13" name="Text 10"/>
          <p:cNvSpPr txBox="1"/>
          <p:nvPr/>
        </p:nvSpPr>
        <p:spPr>
          <a:xfrm>
            <a:off x="457200" y="4041648"/>
            <a:ext cx="1828800" cy="274320"/>
          </a:xfrm>
          <a:prstGeom prst="rect">
            <a:avLst/>
          </a:prstGeom>
          <a:noFill/>
          <a:ln/>
        </p:spPr>
        <p:txBody>
          <a:bodyPr wrap="square" lIns="0" tIns="0" rIns="0" bIns="0" rtlCol="0" anchor="t"/>
          <a:lstStyle/>
          <a:p>
            <a:pPr algn="ctr" indent="0" marL="0">
              <a:buNone/>
            </a:pPr>
            <a:r>
              <a:rPr lang="en-US" sz="1100" dirty="0">
                <a:solidFill>
                  <a:srgbClr val="5B6B6E"/>
                </a:solidFill>
                <a:latin typeface="Calibri" pitchFamily="34" charset="0"/>
                <a:ea typeface="Calibri" pitchFamily="34" charset="-122"/>
                <a:cs typeface="Calibri" pitchFamily="34" charset="-120"/>
              </a:rPr>
              <a:t>Tableau des comptes</a:t>
            </a:r>
            <a:endParaRPr lang="en-US" sz="1100" dirty="0"/>
          </a:p>
        </p:txBody>
      </p:sp>
      <p:sp>
        <p:nvSpPr>
          <p:cNvPr id="14" name="Shape 11"/>
          <p:cNvSpPr/>
          <p:nvPr/>
        </p:nvSpPr>
        <p:spPr>
          <a:xfrm>
            <a:off x="3504895" y="3017520"/>
            <a:ext cx="0" cy="548640"/>
          </a:xfrm>
          <a:prstGeom prst="line">
            <a:avLst/>
          </a:prstGeom>
          <a:noFill/>
          <a:ln w="25400">
            <a:solidFill>
              <a:srgbClr val="0E7C7B"/>
            </a:solidFill>
            <a:prstDash val="solid"/>
          </a:ln>
        </p:spPr>
      </p:sp>
      <p:sp>
        <p:nvSpPr>
          <p:cNvPr id="15" name="Shape 12"/>
          <p:cNvSpPr/>
          <p:nvPr/>
        </p:nvSpPr>
        <p:spPr>
          <a:xfrm>
            <a:off x="2590495" y="3566160"/>
            <a:ext cx="1828800" cy="960120"/>
          </a:xfrm>
          <a:prstGeom prst="roundRect">
            <a:avLst>
              <a:gd name="adj" fmla="val 7619"/>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2590495" y="3675888"/>
            <a:ext cx="1828800" cy="320040"/>
          </a:xfrm>
          <a:prstGeom prst="rect">
            <a:avLst/>
          </a:prstGeom>
          <a:noFill/>
          <a:ln/>
        </p:spPr>
        <p:txBody>
          <a:bodyPr wrap="square" lIns="0" tIns="0" rIns="0" bIns="0" rtlCol="0" anchor="t"/>
          <a:lstStyle/>
          <a:p>
            <a:pPr algn="ctr" indent="0" marL="0">
              <a:buNone/>
            </a:pPr>
            <a:r>
              <a:rPr lang="en-US" sz="1400" b="1" dirty="0">
                <a:solidFill>
                  <a:srgbClr val="0F2A2E"/>
                </a:solidFill>
                <a:latin typeface="Courier New" pitchFamily="34" charset="0"/>
                <a:ea typeface="Courier New" pitchFamily="34" charset="-122"/>
                <a:cs typeface="Courier New" pitchFamily="34" charset="-120"/>
              </a:rPr>
              <a:t>Transaction[1000]</a:t>
            </a:r>
            <a:endParaRPr lang="en-US" sz="1400" dirty="0"/>
          </a:p>
        </p:txBody>
      </p:sp>
      <p:sp>
        <p:nvSpPr>
          <p:cNvPr id="17" name="Text 14"/>
          <p:cNvSpPr txBox="1"/>
          <p:nvPr/>
        </p:nvSpPr>
        <p:spPr>
          <a:xfrm>
            <a:off x="2590495" y="4041648"/>
            <a:ext cx="1828800" cy="274320"/>
          </a:xfrm>
          <a:prstGeom prst="rect">
            <a:avLst/>
          </a:prstGeom>
          <a:noFill/>
          <a:ln/>
        </p:spPr>
        <p:txBody>
          <a:bodyPr wrap="square" lIns="0" tIns="0" rIns="0" bIns="0" rtlCol="0" anchor="t"/>
          <a:lstStyle/>
          <a:p>
            <a:pPr algn="ctr" indent="0" marL="0">
              <a:buNone/>
            </a:pPr>
            <a:r>
              <a:rPr lang="en-US" sz="1100" dirty="0">
                <a:solidFill>
                  <a:srgbClr val="5B6B6E"/>
                </a:solidFill>
                <a:latin typeface="Calibri" pitchFamily="34" charset="0"/>
                <a:ea typeface="Calibri" pitchFamily="34" charset="-122"/>
                <a:cs typeface="Calibri" pitchFamily="34" charset="-120"/>
              </a:rPr>
              <a:t>Tableau des opérations</a:t>
            </a:r>
            <a:endParaRPr lang="en-US" sz="1100" dirty="0"/>
          </a:p>
        </p:txBody>
      </p:sp>
      <p:sp>
        <p:nvSpPr>
          <p:cNvPr id="18" name="Shape 15"/>
          <p:cNvSpPr/>
          <p:nvPr/>
        </p:nvSpPr>
        <p:spPr>
          <a:xfrm>
            <a:off x="5639105" y="3017520"/>
            <a:ext cx="0" cy="548640"/>
          </a:xfrm>
          <a:prstGeom prst="line">
            <a:avLst/>
          </a:prstGeom>
          <a:noFill/>
          <a:ln w="25400">
            <a:solidFill>
              <a:srgbClr val="0E7C7B"/>
            </a:solidFill>
            <a:prstDash val="solid"/>
          </a:ln>
        </p:spPr>
      </p:sp>
      <p:sp>
        <p:nvSpPr>
          <p:cNvPr id="19" name="Shape 16"/>
          <p:cNvSpPr/>
          <p:nvPr/>
        </p:nvSpPr>
        <p:spPr>
          <a:xfrm>
            <a:off x="4724705" y="3566160"/>
            <a:ext cx="1828800" cy="960120"/>
          </a:xfrm>
          <a:prstGeom prst="roundRect">
            <a:avLst>
              <a:gd name="adj" fmla="val 7619"/>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0" name="Text 17"/>
          <p:cNvSpPr txBox="1"/>
          <p:nvPr/>
        </p:nvSpPr>
        <p:spPr>
          <a:xfrm>
            <a:off x="4724705" y="3675888"/>
            <a:ext cx="1828800" cy="320040"/>
          </a:xfrm>
          <a:prstGeom prst="rect">
            <a:avLst/>
          </a:prstGeom>
          <a:noFill/>
          <a:ln/>
        </p:spPr>
        <p:txBody>
          <a:bodyPr wrap="square" lIns="0" tIns="0" rIns="0" bIns="0" rtlCol="0" anchor="t"/>
          <a:lstStyle/>
          <a:p>
            <a:pPr algn="ctr" indent="0" marL="0">
              <a:buNone/>
            </a:pPr>
            <a:r>
              <a:rPr lang="en-US" sz="1400" b="1" dirty="0">
                <a:solidFill>
                  <a:srgbClr val="0F2A2E"/>
                </a:solidFill>
                <a:latin typeface="Courier New" pitchFamily="34" charset="0"/>
                <a:ea typeface="Courier New" pitchFamily="34" charset="-122"/>
                <a:cs typeface="Courier New" pitchFamily="34" charset="-120"/>
              </a:rPr>
              <a:t>Journal</a:t>
            </a:r>
            <a:endParaRPr lang="en-US" sz="1400" dirty="0"/>
          </a:p>
        </p:txBody>
      </p:sp>
      <p:sp>
        <p:nvSpPr>
          <p:cNvPr id="21" name="Text 18"/>
          <p:cNvSpPr txBox="1"/>
          <p:nvPr/>
        </p:nvSpPr>
        <p:spPr>
          <a:xfrm>
            <a:off x="4724705" y="4041648"/>
            <a:ext cx="1828800" cy="274320"/>
          </a:xfrm>
          <a:prstGeom prst="rect">
            <a:avLst/>
          </a:prstGeom>
          <a:noFill/>
          <a:ln/>
        </p:spPr>
        <p:txBody>
          <a:bodyPr wrap="square" lIns="0" tIns="0" rIns="0" bIns="0" rtlCol="0" anchor="t"/>
          <a:lstStyle/>
          <a:p>
            <a:pPr algn="ctr" indent="0" marL="0">
              <a:buNone/>
            </a:pPr>
            <a:r>
              <a:rPr lang="en-US" sz="1100" dirty="0">
                <a:solidFill>
                  <a:srgbClr val="5B6B6E"/>
                </a:solidFill>
                <a:latin typeface="Calibri" pitchFamily="34" charset="0"/>
                <a:ea typeface="Calibri" pitchFamily="34" charset="-122"/>
                <a:cs typeface="Calibri" pitchFamily="34" charset="-120"/>
              </a:rPr>
              <a:t>Fichier journal.log</a:t>
            </a:r>
            <a:endParaRPr lang="en-US" sz="1100" dirty="0"/>
          </a:p>
        </p:txBody>
      </p:sp>
      <p:sp>
        <p:nvSpPr>
          <p:cNvPr id="22" name="Shape 19"/>
          <p:cNvSpPr/>
          <p:nvPr/>
        </p:nvSpPr>
        <p:spPr>
          <a:xfrm>
            <a:off x="7772400" y="3017520"/>
            <a:ext cx="0" cy="548640"/>
          </a:xfrm>
          <a:prstGeom prst="line">
            <a:avLst/>
          </a:prstGeom>
          <a:noFill/>
          <a:ln w="25400">
            <a:solidFill>
              <a:srgbClr val="0E7C7B"/>
            </a:solidFill>
            <a:prstDash val="solid"/>
          </a:ln>
        </p:spPr>
      </p:sp>
      <p:sp>
        <p:nvSpPr>
          <p:cNvPr id="23" name="Shape 20"/>
          <p:cNvSpPr/>
          <p:nvPr/>
        </p:nvSpPr>
        <p:spPr>
          <a:xfrm>
            <a:off x="6858000" y="3566160"/>
            <a:ext cx="1828800" cy="960120"/>
          </a:xfrm>
          <a:prstGeom prst="roundRect">
            <a:avLst>
              <a:gd name="adj" fmla="val 7619"/>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6858000" y="3675888"/>
            <a:ext cx="1828800" cy="320040"/>
          </a:xfrm>
          <a:prstGeom prst="rect">
            <a:avLst/>
          </a:prstGeom>
          <a:noFill/>
          <a:ln/>
        </p:spPr>
        <p:txBody>
          <a:bodyPr wrap="square" lIns="0" tIns="0" rIns="0" bIns="0" rtlCol="0" anchor="t"/>
          <a:lstStyle/>
          <a:p>
            <a:pPr algn="ctr" indent="0" marL="0">
              <a:buNone/>
            </a:pPr>
            <a:r>
              <a:rPr lang="en-US" sz="1400" b="1" dirty="0">
                <a:solidFill>
                  <a:srgbClr val="0F2A2E"/>
                </a:solidFill>
                <a:latin typeface="Courier New" pitchFamily="34" charset="0"/>
                <a:ea typeface="Courier New" pitchFamily="34" charset="-122"/>
                <a:cs typeface="Courier New" pitchFamily="34" charset="-120"/>
              </a:rPr>
              <a:t>Securite</a:t>
            </a:r>
            <a:endParaRPr lang="en-US" sz="1400" dirty="0"/>
          </a:p>
        </p:txBody>
      </p:sp>
      <p:sp>
        <p:nvSpPr>
          <p:cNvPr id="25" name="Text 22"/>
          <p:cNvSpPr txBox="1"/>
          <p:nvPr/>
        </p:nvSpPr>
        <p:spPr>
          <a:xfrm>
            <a:off x="6858000" y="4041648"/>
            <a:ext cx="1828800" cy="274320"/>
          </a:xfrm>
          <a:prstGeom prst="rect">
            <a:avLst/>
          </a:prstGeom>
          <a:noFill/>
          <a:ln/>
        </p:spPr>
        <p:txBody>
          <a:bodyPr wrap="square" lIns="0" tIns="0" rIns="0" bIns="0" rtlCol="0" anchor="t"/>
          <a:lstStyle/>
          <a:p>
            <a:pPr algn="ctr" indent="0" marL="0">
              <a:buNone/>
            </a:pPr>
            <a:r>
              <a:rPr lang="en-US" sz="1100" dirty="0">
                <a:solidFill>
                  <a:srgbClr val="5B6B6E"/>
                </a:solidFill>
                <a:latin typeface="Calibri" pitchFamily="34" charset="0"/>
                <a:ea typeface="Calibri" pitchFamily="34" charset="-122"/>
                <a:cs typeface="Calibri" pitchFamily="34" charset="-120"/>
              </a:rPr>
              <a:t>Hachage SHA-256</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Choix techniques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502920" cy="50292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592988" y="1278788"/>
            <a:ext cx="231343" cy="231343"/>
          </a:xfrm>
          <a:prstGeom prst="rect">
            <a:avLst/>
          </a:prstGeom>
        </p:spPr>
      </p:pic>
      <p:sp>
        <p:nvSpPr>
          <p:cNvPr id="7" name="Text 3"/>
          <p:cNvSpPr txBox="1"/>
          <p:nvPr/>
        </p:nvSpPr>
        <p:spPr>
          <a:xfrm>
            <a:off x="1143000" y="1143000"/>
            <a:ext cx="365760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Java 17+</a:t>
            </a:r>
            <a:endParaRPr lang="en-US" sz="1500" dirty="0"/>
          </a:p>
        </p:txBody>
      </p:sp>
      <p:sp>
        <p:nvSpPr>
          <p:cNvPr id="8" name="Text 4"/>
          <p:cNvSpPr txBox="1"/>
          <p:nvPr/>
        </p:nvSpPr>
        <p:spPr>
          <a:xfrm>
            <a:off x="1143000" y="1417320"/>
            <a:ext cx="3657600" cy="365760"/>
          </a:xfrm>
          <a:prstGeom prst="rect">
            <a:avLst/>
          </a:prstGeom>
          <a:noFill/>
          <a:ln/>
        </p:spPr>
        <p:txBody>
          <a:bodyPr wrap="square" lIns="0" tIns="0" rIns="0" bIns="0" rtlCol="0" anchor="t"/>
          <a:lstStyle/>
          <a:p>
            <a:pPr indent="0" marL="0">
              <a:buNone/>
            </a:pPr>
            <a:r>
              <a:rPr lang="en-US" sz="1150" dirty="0">
                <a:solidFill>
                  <a:srgbClr val="5B6B6E"/>
                </a:solidFill>
                <a:latin typeface="Calibri" pitchFamily="34" charset="0"/>
                <a:ea typeface="Calibri" pitchFamily="34" charset="-122"/>
                <a:cs typeface="Calibri" pitchFamily="34" charset="-120"/>
              </a:rPr>
              <a:t>Langage orienté objet, portable, exécutable sous IntelliJ ou VS Code</a:t>
            </a:r>
            <a:endParaRPr lang="en-US" sz="1150" dirty="0"/>
          </a:p>
        </p:txBody>
      </p:sp>
      <p:sp>
        <p:nvSpPr>
          <p:cNvPr id="9" name="Shape 5"/>
          <p:cNvSpPr/>
          <p:nvPr/>
        </p:nvSpPr>
        <p:spPr>
          <a:xfrm>
            <a:off x="457200" y="1828800"/>
            <a:ext cx="502920" cy="502920"/>
          </a:xfrm>
          <a:prstGeom prst="ellipse">
            <a:avLst/>
          </a:prstGeom>
          <a:solidFill>
            <a:srgbClr val="0E7C7B"/>
          </a:solidFill>
          <a:ln w="12700">
            <a:solidFill>
              <a:srgbClr val="0E7C7B"/>
            </a:solidFill>
            <a:prstDash val="solid"/>
          </a:ln>
        </p:spPr>
      </p:sp>
      <p:pic>
        <p:nvPicPr>
          <p:cNvPr id="10" name="Image 1" descr="preencoded.png">    </p:cNvPr>
          <p:cNvPicPr>
            <a:picLocks noChangeAspect="1"/>
          </p:cNvPicPr>
          <p:nvPr/>
        </p:nvPicPr>
        <p:blipFill>
          <a:blip r:embed="rId2"/>
          <a:stretch>
            <a:fillRect/>
          </a:stretch>
        </p:blipFill>
        <p:spPr>
          <a:xfrm>
            <a:off x="592988" y="1964588"/>
            <a:ext cx="231343" cy="231343"/>
          </a:xfrm>
          <a:prstGeom prst="rect">
            <a:avLst/>
          </a:prstGeom>
        </p:spPr>
      </p:pic>
      <p:sp>
        <p:nvSpPr>
          <p:cNvPr id="11" name="Text 6"/>
          <p:cNvSpPr txBox="1"/>
          <p:nvPr/>
        </p:nvSpPr>
        <p:spPr>
          <a:xfrm>
            <a:off x="1143000" y="1828800"/>
            <a:ext cx="365760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Tableaux + compteurs</a:t>
            </a:r>
            <a:endParaRPr lang="en-US" sz="1500" dirty="0"/>
          </a:p>
        </p:txBody>
      </p:sp>
      <p:sp>
        <p:nvSpPr>
          <p:cNvPr id="12" name="Text 7"/>
          <p:cNvSpPr txBox="1"/>
          <p:nvPr/>
        </p:nvSpPr>
        <p:spPr>
          <a:xfrm>
            <a:off x="1143000" y="2103120"/>
            <a:ext cx="3657600" cy="365760"/>
          </a:xfrm>
          <a:prstGeom prst="rect">
            <a:avLst/>
          </a:prstGeom>
          <a:noFill/>
          <a:ln/>
        </p:spPr>
        <p:txBody>
          <a:bodyPr wrap="square" lIns="0" tIns="0" rIns="0" bIns="0" rtlCol="0" anchor="t"/>
          <a:lstStyle/>
          <a:p>
            <a:pPr indent="0" marL="0">
              <a:buNone/>
            </a:pPr>
            <a:r>
              <a:rPr lang="en-US" sz="1150" dirty="0">
                <a:solidFill>
                  <a:srgbClr val="5B6B6E"/>
                </a:solidFill>
                <a:latin typeface="Calibri" pitchFamily="34" charset="0"/>
                <a:ea typeface="Calibri" pitchFamily="34" charset="-122"/>
                <a:cs typeface="Calibri" pitchFamily="34" charset="-120"/>
              </a:rPr>
              <a:t>Compte[100] et Transaction[1000], parcourus avec des boucles for</a:t>
            </a:r>
            <a:endParaRPr lang="en-US" sz="1150" dirty="0"/>
          </a:p>
        </p:txBody>
      </p:sp>
      <p:sp>
        <p:nvSpPr>
          <p:cNvPr id="13" name="Shape 8"/>
          <p:cNvSpPr/>
          <p:nvPr/>
        </p:nvSpPr>
        <p:spPr>
          <a:xfrm>
            <a:off x="457200" y="2514600"/>
            <a:ext cx="502920" cy="502920"/>
          </a:xfrm>
          <a:prstGeom prst="ellipse">
            <a:avLst/>
          </a:prstGeom>
          <a:solidFill>
            <a:srgbClr val="0E7C7B"/>
          </a:solidFill>
          <a:ln w="12700">
            <a:solidFill>
              <a:srgbClr val="0E7C7B"/>
            </a:solidFill>
            <a:prstDash val="solid"/>
          </a:ln>
        </p:spPr>
      </p:sp>
      <p:pic>
        <p:nvPicPr>
          <p:cNvPr id="14" name="Image 2" descr="preencoded.png">    </p:cNvPr>
          <p:cNvPicPr>
            <a:picLocks noChangeAspect="1"/>
          </p:cNvPicPr>
          <p:nvPr/>
        </p:nvPicPr>
        <p:blipFill>
          <a:blip r:embed="rId3"/>
          <a:stretch>
            <a:fillRect/>
          </a:stretch>
        </p:blipFill>
        <p:spPr>
          <a:xfrm>
            <a:off x="592988" y="2650388"/>
            <a:ext cx="231343" cy="231343"/>
          </a:xfrm>
          <a:prstGeom prst="rect">
            <a:avLst/>
          </a:prstGeom>
        </p:spPr>
      </p:pic>
      <p:sp>
        <p:nvSpPr>
          <p:cNvPr id="15" name="Text 9"/>
          <p:cNvSpPr txBox="1"/>
          <p:nvPr/>
        </p:nvSpPr>
        <p:spPr>
          <a:xfrm>
            <a:off x="1143000" y="2514600"/>
            <a:ext cx="365760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SHA-256</a:t>
            </a:r>
            <a:endParaRPr lang="en-US" sz="1500" dirty="0"/>
          </a:p>
        </p:txBody>
      </p:sp>
      <p:sp>
        <p:nvSpPr>
          <p:cNvPr id="16" name="Text 10"/>
          <p:cNvSpPr txBox="1"/>
          <p:nvPr/>
        </p:nvSpPr>
        <p:spPr>
          <a:xfrm>
            <a:off x="1143000" y="2788920"/>
            <a:ext cx="3657600" cy="365760"/>
          </a:xfrm>
          <a:prstGeom prst="rect">
            <a:avLst/>
          </a:prstGeom>
          <a:noFill/>
          <a:ln/>
        </p:spPr>
        <p:txBody>
          <a:bodyPr wrap="square" lIns="0" tIns="0" rIns="0" bIns="0" rtlCol="0" anchor="t"/>
          <a:lstStyle/>
          <a:p>
            <a:pPr indent="0" marL="0">
              <a:buNone/>
            </a:pPr>
            <a:r>
              <a:rPr lang="en-US" sz="1150" dirty="0">
                <a:solidFill>
                  <a:srgbClr val="5B6B6E"/>
                </a:solidFill>
                <a:latin typeface="Calibri" pitchFamily="34" charset="0"/>
                <a:ea typeface="Calibri" pitchFamily="34" charset="-122"/>
                <a:cs typeface="Calibri" pitchFamily="34" charset="-120"/>
              </a:rPr>
              <a:t>Aucun mot de passe stocké en clair, seulement son empreinte</a:t>
            </a:r>
            <a:endParaRPr lang="en-US" sz="1150" dirty="0"/>
          </a:p>
        </p:txBody>
      </p:sp>
      <p:sp>
        <p:nvSpPr>
          <p:cNvPr id="17" name="Shape 11"/>
          <p:cNvSpPr/>
          <p:nvPr/>
        </p:nvSpPr>
        <p:spPr>
          <a:xfrm>
            <a:off x="457200" y="3200400"/>
            <a:ext cx="502920" cy="502920"/>
          </a:xfrm>
          <a:prstGeom prst="ellipse">
            <a:avLst/>
          </a:prstGeom>
          <a:solidFill>
            <a:srgbClr val="0E7C7B"/>
          </a:solidFill>
          <a:ln w="12700">
            <a:solidFill>
              <a:srgbClr val="0E7C7B"/>
            </a:solidFill>
            <a:prstDash val="solid"/>
          </a:ln>
        </p:spPr>
      </p:sp>
      <p:pic>
        <p:nvPicPr>
          <p:cNvPr id="18" name="Image 3" descr="preencoded.png">    </p:cNvPr>
          <p:cNvPicPr>
            <a:picLocks noChangeAspect="1"/>
          </p:cNvPicPr>
          <p:nvPr/>
        </p:nvPicPr>
        <p:blipFill>
          <a:blip r:embed="rId4"/>
          <a:stretch>
            <a:fillRect/>
          </a:stretch>
        </p:blipFill>
        <p:spPr>
          <a:xfrm>
            <a:off x="592988" y="3336188"/>
            <a:ext cx="231343" cy="231343"/>
          </a:xfrm>
          <a:prstGeom prst="rect">
            <a:avLst/>
          </a:prstGeom>
        </p:spPr>
      </p:pic>
      <p:sp>
        <p:nvSpPr>
          <p:cNvPr id="19" name="Text 12"/>
          <p:cNvSpPr txBox="1"/>
          <p:nvPr/>
        </p:nvSpPr>
        <p:spPr>
          <a:xfrm>
            <a:off x="1143000" y="3200400"/>
            <a:ext cx="365760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LocalDateTime</a:t>
            </a:r>
            <a:endParaRPr lang="en-US" sz="1500" dirty="0"/>
          </a:p>
        </p:txBody>
      </p:sp>
      <p:sp>
        <p:nvSpPr>
          <p:cNvPr id="20" name="Text 13"/>
          <p:cNvSpPr txBox="1"/>
          <p:nvPr/>
        </p:nvSpPr>
        <p:spPr>
          <a:xfrm>
            <a:off x="1143000" y="3474720"/>
            <a:ext cx="3657600" cy="365760"/>
          </a:xfrm>
          <a:prstGeom prst="rect">
            <a:avLst/>
          </a:prstGeom>
          <a:noFill/>
          <a:ln/>
        </p:spPr>
        <p:txBody>
          <a:bodyPr wrap="square" lIns="0" tIns="0" rIns="0" bIns="0" rtlCol="0" anchor="t"/>
          <a:lstStyle/>
          <a:p>
            <a:pPr indent="0" marL="0">
              <a:buNone/>
            </a:pPr>
            <a:r>
              <a:rPr lang="en-US" sz="1150" dirty="0">
                <a:solidFill>
                  <a:srgbClr val="5B6B6E"/>
                </a:solidFill>
                <a:latin typeface="Calibri" pitchFamily="34" charset="0"/>
                <a:ea typeface="Calibri" pitchFamily="34" charset="-122"/>
                <a:cs typeface="Calibri" pitchFamily="34" charset="-120"/>
              </a:rPr>
              <a:t>Date et heure exactes de chaque opération</a:t>
            </a:r>
            <a:endParaRPr lang="en-US" sz="1150" dirty="0"/>
          </a:p>
        </p:txBody>
      </p:sp>
      <p:sp>
        <p:nvSpPr>
          <p:cNvPr id="21" name="Shape 14"/>
          <p:cNvSpPr/>
          <p:nvPr/>
        </p:nvSpPr>
        <p:spPr>
          <a:xfrm>
            <a:off x="457200" y="3886200"/>
            <a:ext cx="502920" cy="502920"/>
          </a:xfrm>
          <a:prstGeom prst="ellipse">
            <a:avLst/>
          </a:prstGeom>
          <a:solidFill>
            <a:srgbClr val="0E7C7B"/>
          </a:solidFill>
          <a:ln w="12700">
            <a:solidFill>
              <a:srgbClr val="0E7C7B"/>
            </a:solidFill>
            <a:prstDash val="solid"/>
          </a:ln>
        </p:spPr>
      </p:sp>
      <p:pic>
        <p:nvPicPr>
          <p:cNvPr id="22" name="Image 4" descr="preencoded.png">    </p:cNvPr>
          <p:cNvPicPr>
            <a:picLocks noChangeAspect="1"/>
          </p:cNvPicPr>
          <p:nvPr/>
        </p:nvPicPr>
        <p:blipFill>
          <a:blip r:embed="rId5"/>
          <a:stretch>
            <a:fillRect/>
          </a:stretch>
        </p:blipFill>
        <p:spPr>
          <a:xfrm>
            <a:off x="592988" y="4021988"/>
            <a:ext cx="231343" cy="231343"/>
          </a:xfrm>
          <a:prstGeom prst="rect">
            <a:avLst/>
          </a:prstGeom>
        </p:spPr>
      </p:pic>
      <p:sp>
        <p:nvSpPr>
          <p:cNvPr id="23" name="Text 15"/>
          <p:cNvSpPr txBox="1"/>
          <p:nvPr/>
        </p:nvSpPr>
        <p:spPr>
          <a:xfrm>
            <a:off x="1143000" y="3886200"/>
            <a:ext cx="365760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Fichiers texte</a:t>
            </a:r>
            <a:endParaRPr lang="en-US" sz="1500" dirty="0"/>
          </a:p>
        </p:txBody>
      </p:sp>
      <p:sp>
        <p:nvSpPr>
          <p:cNvPr id="24" name="Text 16"/>
          <p:cNvSpPr txBox="1"/>
          <p:nvPr/>
        </p:nvSpPr>
        <p:spPr>
          <a:xfrm>
            <a:off x="1143000" y="4160520"/>
            <a:ext cx="3657600" cy="365760"/>
          </a:xfrm>
          <a:prstGeom prst="rect">
            <a:avLst/>
          </a:prstGeom>
          <a:noFill/>
          <a:ln/>
        </p:spPr>
        <p:txBody>
          <a:bodyPr wrap="square" lIns="0" tIns="0" rIns="0" bIns="0" rtlCol="0" anchor="t"/>
          <a:lstStyle/>
          <a:p>
            <a:pPr indent="0" marL="0">
              <a:buNone/>
            </a:pPr>
            <a:r>
              <a:rPr lang="en-US" sz="1150" dirty="0">
                <a:solidFill>
                  <a:srgbClr val="5B6B6E"/>
                </a:solidFill>
                <a:latin typeface="Calibri" pitchFamily="34" charset="0"/>
                <a:ea typeface="Calibri" pitchFamily="34" charset="-122"/>
                <a:cs typeface="Calibri" pitchFamily="34" charset="-120"/>
              </a:rPr>
              <a:t>journal.log et relevés exportés par PrintWriter</a:t>
            </a:r>
            <a:endParaRPr lang="en-US" sz="1150" dirty="0"/>
          </a:p>
        </p:txBody>
      </p:sp>
      <p:sp>
        <p:nvSpPr>
          <p:cNvPr id="25" name="Shape 17"/>
          <p:cNvSpPr/>
          <p:nvPr/>
        </p:nvSpPr>
        <p:spPr>
          <a:xfrm>
            <a:off x="5303520" y="1143000"/>
            <a:ext cx="3383280" cy="3337560"/>
          </a:xfrm>
          <a:prstGeom prst="roundRect">
            <a:avLst>
              <a:gd name="adj" fmla="val 2192"/>
            </a:avLst>
          </a:prstGeom>
          <a:solidFill>
            <a:srgbClr val="0F2A2E"/>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6" name="Text 18"/>
          <p:cNvSpPr txBox="1"/>
          <p:nvPr/>
        </p:nvSpPr>
        <p:spPr>
          <a:xfrm>
            <a:off x="5532120" y="1325880"/>
            <a:ext cx="2926080" cy="365760"/>
          </a:xfrm>
          <a:prstGeom prst="rect">
            <a:avLst/>
          </a:prstGeom>
          <a:noFill/>
          <a:ln/>
        </p:spPr>
        <p:txBody>
          <a:bodyPr wrap="square" lIns="0" tIns="0" rIns="0" bIns="0" rtlCol="0" anchor="t"/>
          <a:lstStyle/>
          <a:p>
            <a:pPr indent="0" marL="0">
              <a:buNone/>
            </a:pPr>
            <a:r>
              <a:rPr lang="en-US" sz="2000" b="1" dirty="0">
                <a:solidFill>
                  <a:srgbClr val="F2A93B"/>
                </a:solidFill>
                <a:latin typeface="Cambria" pitchFamily="34" charset="0"/>
                <a:ea typeface="Cambria" pitchFamily="34" charset="-122"/>
                <a:cs typeface="Cambria" pitchFamily="34" charset="-120"/>
              </a:rPr>
              <a:t>Bonnes pratiques</a:t>
            </a:r>
            <a:endParaRPr lang="en-US" sz="2000" dirty="0"/>
          </a:p>
        </p:txBody>
      </p:sp>
      <p:sp>
        <p:nvSpPr>
          <p:cNvPr id="27" name="Text 19"/>
          <p:cNvSpPr txBox="1"/>
          <p:nvPr/>
        </p:nvSpPr>
        <p:spPr>
          <a:xfrm>
            <a:off x="5532120" y="1828800"/>
            <a:ext cx="2926080" cy="24688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Séparation des responsabilités : une classe, un rôle</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Encapsulation : attributs privés, accès par méthodes</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Constantes pour les seuils de fraude</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Validation de chaque saisie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Modèle de données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3977640" cy="3200400"/>
          </a:xfrm>
          <a:prstGeom prst="roundRect">
            <a:avLst>
              <a:gd name="adj" fmla="val 2286"/>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457200" y="1143000"/>
            <a:ext cx="3977640" cy="457200"/>
          </a:xfrm>
          <a:prstGeom prst="rect">
            <a:avLst/>
          </a:prstGeom>
          <a:solidFill>
            <a:srgbClr val="0E7C7B"/>
          </a:solidFill>
          <a:ln w="12700">
            <a:solidFill>
              <a:srgbClr val="0E7C7B"/>
            </a:solidFill>
            <a:prstDash val="solid"/>
          </a:ln>
        </p:spPr>
      </p:sp>
      <p:sp>
        <p:nvSpPr>
          <p:cNvPr id="7" name="Text 4"/>
          <p:cNvSpPr txBox="1"/>
          <p:nvPr/>
        </p:nvSpPr>
        <p:spPr>
          <a:xfrm>
            <a:off x="640080" y="1143000"/>
            <a:ext cx="3566160" cy="45720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Compte</a:t>
            </a:r>
            <a:endParaRPr lang="en-US" sz="1700" dirty="0"/>
          </a:p>
        </p:txBody>
      </p:sp>
      <p:sp>
        <p:nvSpPr>
          <p:cNvPr id="8" name="Text 5"/>
          <p:cNvSpPr txBox="1"/>
          <p:nvPr/>
        </p:nvSpPr>
        <p:spPr>
          <a:xfrm>
            <a:off x="640080" y="1737360"/>
            <a:ext cx="3611880" cy="1463040"/>
          </a:xfrm>
          <a:prstGeom prst="rect">
            <a:avLst/>
          </a:prstGeom>
          <a:noFill/>
          <a:ln/>
        </p:spPr>
        <p:txBody>
          <a:bodyPr wrap="square" lIns="0" tIns="0" rIns="0" bIns="0" rtlCol="0" anchor="t"/>
          <a:lstStyle/>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numero  (CM00001...)</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titulaire</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motDePasseHache</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solde</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bloque</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echecs</a:t>
            </a:r>
            <a:endParaRPr lang="en-US" sz="1200" dirty="0"/>
          </a:p>
        </p:txBody>
      </p:sp>
      <p:sp>
        <p:nvSpPr>
          <p:cNvPr id="9" name="Text 6"/>
          <p:cNvSpPr txBox="1"/>
          <p:nvPr/>
        </p:nvSpPr>
        <p:spPr>
          <a:xfrm>
            <a:off x="640080" y="3127248"/>
            <a:ext cx="35661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Méthodes</a:t>
            </a:r>
            <a:endParaRPr lang="en-US" sz="1100" dirty="0"/>
          </a:p>
        </p:txBody>
      </p:sp>
      <p:sp>
        <p:nvSpPr>
          <p:cNvPr id="10" name="Text 7"/>
          <p:cNvSpPr txBox="1"/>
          <p:nvPr/>
        </p:nvSpPr>
        <p:spPr>
          <a:xfrm>
            <a:off x="640080" y="3383280"/>
            <a:ext cx="3611880" cy="914400"/>
          </a:xfrm>
          <a:prstGeom prst="rect">
            <a:avLst/>
          </a:prstGeom>
          <a:noFill/>
          <a:ln/>
        </p:spPr>
        <p:txBody>
          <a:bodyPr wrap="square" lIns="0" tIns="0" rIns="0" bIns="0" rtlCol="0" anchor="t"/>
          <a:lstStyle/>
          <a:p>
            <a:pPr indent="0" marL="0">
              <a:buNone/>
            </a:pPr>
            <a:r>
              <a:rPr lang="en-US" sz="1100" dirty="0">
                <a:solidFill>
                  <a:srgbClr val="5B6B6E"/>
                </a:solidFill>
                <a:latin typeface="Courier New" pitchFamily="34" charset="0"/>
                <a:ea typeface="Courier New" pitchFamily="34" charset="-122"/>
                <a:cs typeface="Courier New" pitchFamily="34" charset="-120"/>
              </a:rPr>
              <a:t>verifierMotDePasse()</a:t>
            </a:r>
            <a:endParaRPr lang="en-US" sz="1100" dirty="0"/>
          </a:p>
          <a:p>
            <a:pPr indent="0" marL="0">
              <a:buNone/>
            </a:pPr>
            <a:r>
              <a:rPr lang="en-US" sz="1100" dirty="0">
                <a:solidFill>
                  <a:srgbClr val="5B6B6E"/>
                </a:solidFill>
                <a:latin typeface="Courier New" pitchFamily="34" charset="0"/>
                <a:ea typeface="Courier New" pitchFamily="34" charset="-122"/>
                <a:cs typeface="Courier New" pitchFamily="34" charset="-120"/>
              </a:rPr>
              <a:t>ajouterEchec()</a:t>
            </a:r>
            <a:endParaRPr lang="en-US" sz="1100" dirty="0"/>
          </a:p>
          <a:p>
            <a:pPr indent="0" marL="0">
              <a:buNone/>
            </a:pPr>
            <a:r>
              <a:rPr lang="en-US" sz="1100" dirty="0">
                <a:solidFill>
                  <a:srgbClr val="5B6B6E"/>
                </a:solidFill>
                <a:latin typeface="Courier New" pitchFamily="34" charset="0"/>
                <a:ea typeface="Courier New" pitchFamily="34" charset="-122"/>
                <a:cs typeface="Courier New" pitchFamily="34" charset="-120"/>
              </a:rPr>
              <a:t>crediter() / debiter()</a:t>
            </a:r>
            <a:endParaRPr lang="en-US" sz="1100" dirty="0"/>
          </a:p>
        </p:txBody>
      </p:sp>
      <p:sp>
        <p:nvSpPr>
          <p:cNvPr id="11" name="Shape 8"/>
          <p:cNvSpPr/>
          <p:nvPr/>
        </p:nvSpPr>
        <p:spPr>
          <a:xfrm>
            <a:off x="4709160" y="1143000"/>
            <a:ext cx="3977640" cy="3200400"/>
          </a:xfrm>
          <a:prstGeom prst="roundRect">
            <a:avLst>
              <a:gd name="adj" fmla="val 2286"/>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709160" y="1143000"/>
            <a:ext cx="3977640" cy="457200"/>
          </a:xfrm>
          <a:prstGeom prst="rect">
            <a:avLst/>
          </a:prstGeom>
          <a:solidFill>
            <a:srgbClr val="0E7C7B"/>
          </a:solidFill>
          <a:ln w="12700">
            <a:solidFill>
              <a:srgbClr val="0E7C7B"/>
            </a:solidFill>
            <a:prstDash val="solid"/>
          </a:ln>
        </p:spPr>
      </p:sp>
      <p:sp>
        <p:nvSpPr>
          <p:cNvPr id="13" name="Text 10"/>
          <p:cNvSpPr txBox="1"/>
          <p:nvPr/>
        </p:nvSpPr>
        <p:spPr>
          <a:xfrm>
            <a:off x="4892040" y="1143000"/>
            <a:ext cx="3566160" cy="457200"/>
          </a:xfrm>
          <a:prstGeom prst="rect">
            <a:avLst/>
          </a:prstGeom>
          <a:noFill/>
          <a:ln/>
        </p:spPr>
        <p:txBody>
          <a:bodyPr wrap="square" lIns="0" tIns="0" rIns="0" bIns="0" rtlCol="0" anchor="ctr"/>
          <a:lstStyle/>
          <a:p>
            <a:pPr indent="0" marL="0">
              <a:buNone/>
            </a:pPr>
            <a:r>
              <a:rPr lang="en-US" sz="1700" b="1" dirty="0">
                <a:solidFill>
                  <a:srgbClr val="FFFFFF"/>
                </a:solidFill>
                <a:latin typeface="Courier New" pitchFamily="34" charset="0"/>
                <a:ea typeface="Courier New" pitchFamily="34" charset="-122"/>
                <a:cs typeface="Courier New" pitchFamily="34" charset="-120"/>
              </a:rPr>
              <a:t>Transaction</a:t>
            </a:r>
            <a:endParaRPr lang="en-US" sz="1700" dirty="0"/>
          </a:p>
        </p:txBody>
      </p:sp>
      <p:sp>
        <p:nvSpPr>
          <p:cNvPr id="14" name="Text 11"/>
          <p:cNvSpPr txBox="1"/>
          <p:nvPr/>
        </p:nvSpPr>
        <p:spPr>
          <a:xfrm>
            <a:off x="4892040" y="1737360"/>
            <a:ext cx="3611880" cy="1463040"/>
          </a:xfrm>
          <a:prstGeom prst="rect">
            <a:avLst/>
          </a:prstGeom>
          <a:noFill/>
          <a:ln/>
        </p:spPr>
        <p:txBody>
          <a:bodyPr wrap="square" lIns="0" tIns="0" rIns="0" bIns="0" rtlCol="0" anchor="t"/>
          <a:lstStyle/>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id  (automatique)</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type  DEPOT|RETRAIT|VIREMENT</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source / destination</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montant</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date  (LocalDateTime)</a:t>
            </a:r>
            <a:endParaRPr lang="en-US" sz="1200" dirty="0"/>
          </a:p>
          <a:p>
            <a:pPr indent="0" marL="0">
              <a:spcAft>
                <a:spcPts val="200"/>
              </a:spcAft>
              <a:buNone/>
            </a:pPr>
            <a:r>
              <a:rPr lang="en-US" sz="1200" dirty="0">
                <a:solidFill>
                  <a:srgbClr val="1F2D2F"/>
                </a:solidFill>
                <a:latin typeface="Courier New" pitchFamily="34" charset="0"/>
                <a:ea typeface="Courier New" pitchFamily="34" charset="-122"/>
                <a:cs typeface="Courier New" pitchFamily="34" charset="-120"/>
              </a:rPr>
              <a:t>suspecte / motif</a:t>
            </a:r>
            <a:endParaRPr lang="en-US" sz="1200" dirty="0"/>
          </a:p>
        </p:txBody>
      </p:sp>
      <p:sp>
        <p:nvSpPr>
          <p:cNvPr id="15" name="Text 12"/>
          <p:cNvSpPr txBox="1"/>
          <p:nvPr/>
        </p:nvSpPr>
        <p:spPr>
          <a:xfrm>
            <a:off x="4892040" y="3127248"/>
            <a:ext cx="35661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Méthodes</a:t>
            </a:r>
            <a:endParaRPr lang="en-US" sz="1100" dirty="0"/>
          </a:p>
        </p:txBody>
      </p:sp>
      <p:sp>
        <p:nvSpPr>
          <p:cNvPr id="16" name="Text 13"/>
          <p:cNvSpPr txBox="1"/>
          <p:nvPr/>
        </p:nvSpPr>
        <p:spPr>
          <a:xfrm>
            <a:off x="4892040" y="3383280"/>
            <a:ext cx="3611880" cy="914400"/>
          </a:xfrm>
          <a:prstGeom prst="rect">
            <a:avLst/>
          </a:prstGeom>
          <a:noFill/>
          <a:ln/>
        </p:spPr>
        <p:txBody>
          <a:bodyPr wrap="square" lIns="0" tIns="0" rIns="0" bIns="0" rtlCol="0" anchor="t"/>
          <a:lstStyle/>
          <a:p>
            <a:pPr indent="0" marL="0">
              <a:buNone/>
            </a:pPr>
            <a:r>
              <a:rPr lang="en-US" sz="1100" dirty="0">
                <a:solidFill>
                  <a:srgbClr val="5B6B6E"/>
                </a:solidFill>
                <a:latin typeface="Courier New" pitchFamily="34" charset="0"/>
                <a:ea typeface="Courier New" pitchFamily="34" charset="-122"/>
                <a:cs typeface="Courier New" pitchFamily="34" charset="-120"/>
              </a:rPr>
              <a:t>marquerSuspecte()</a:t>
            </a:r>
            <a:endParaRPr lang="en-US" sz="1100" dirty="0"/>
          </a:p>
          <a:p>
            <a:pPr indent="0" marL="0">
              <a:buNone/>
            </a:pPr>
            <a:r>
              <a:rPr lang="en-US" sz="1100" dirty="0">
                <a:solidFill>
                  <a:srgbClr val="5B6B6E"/>
                </a:solidFill>
                <a:latin typeface="Courier New" pitchFamily="34" charset="0"/>
                <a:ea typeface="Courier New" pitchFamily="34" charset="-122"/>
                <a:cs typeface="Courier New" pitchFamily="34" charset="-120"/>
              </a:rPr>
              <a:t>toString()</a:t>
            </a:r>
            <a:endParaRPr lang="en-US" sz="1100" dirty="0"/>
          </a:p>
        </p:txBody>
      </p:sp>
      <p:sp>
        <p:nvSpPr>
          <p:cNvPr id="17" name="Text 14"/>
          <p:cNvSpPr txBox="1"/>
          <p:nvPr/>
        </p:nvSpPr>
        <p:spPr>
          <a:xfrm>
            <a:off x="457200" y="4480560"/>
            <a:ext cx="8229600" cy="2743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Stockage : un objet par case de tableau, un compteur (nbComptes, nbTransactions) indique les cases utilisées.</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Sécurité des accès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88720"/>
            <a:ext cx="2286000" cy="868680"/>
          </a:xfrm>
          <a:prstGeom prst="roundRect">
            <a:avLst>
              <a:gd name="adj" fmla="val 8421"/>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457200" y="1188720"/>
            <a:ext cx="2286000" cy="868680"/>
          </a:xfrm>
          <a:prstGeom prst="rect">
            <a:avLst/>
          </a:prstGeom>
          <a:noFill/>
          <a:ln/>
        </p:spPr>
        <p:txBody>
          <a:bodyPr wrap="square" lIns="0" tIns="0" rIns="0" bIns="0" rtlCol="0" anchor="ctr"/>
          <a:lstStyle/>
          <a:p>
            <a:pPr algn="ctr" indent="0" marL="0">
              <a:buNone/>
            </a:pPr>
            <a:r>
              <a:rPr lang="en-US" sz="1400" b="1" dirty="0">
                <a:solidFill>
                  <a:srgbClr val="0F2A2E"/>
                </a:solidFill>
                <a:latin typeface="Calibri" pitchFamily="34" charset="0"/>
                <a:ea typeface="Calibri" pitchFamily="34" charset="-122"/>
                <a:cs typeface="Calibri" pitchFamily="34" charset="-120"/>
              </a:rPr>
              <a:t>Mot de passe saisi</a:t>
            </a:r>
            <a:endParaRPr lang="en-US" sz="1400" dirty="0"/>
          </a:p>
          <a:p>
            <a:pPr algn="ctr" indent="0" marL="0">
              <a:buNone/>
            </a:pPr>
            <a:r>
              <a:rPr lang="en-US" sz="1100" dirty="0">
                <a:solidFill>
                  <a:srgbClr val="5B6B6E"/>
                </a:solidFill>
                <a:latin typeface="Calibri" pitchFamily="34" charset="0"/>
                <a:ea typeface="Calibri" pitchFamily="34" charset="-122"/>
                <a:cs typeface="Calibri" pitchFamily="34" charset="-120"/>
              </a:rPr>
              <a:t>ex : 1234</a:t>
            </a:r>
            <a:endParaRPr lang="en-US" sz="1400" dirty="0"/>
          </a:p>
        </p:txBody>
      </p:sp>
      <p:pic>
        <p:nvPicPr>
          <p:cNvPr id="7" name="Image 0" descr="preencoded.png">    </p:cNvPr>
          <p:cNvPicPr>
            <a:picLocks noChangeAspect="1"/>
          </p:cNvPicPr>
          <p:nvPr/>
        </p:nvPicPr>
        <p:blipFill>
          <a:blip r:embed="rId1"/>
          <a:stretch>
            <a:fillRect/>
          </a:stretch>
        </p:blipFill>
        <p:spPr>
          <a:xfrm>
            <a:off x="2862072" y="1481328"/>
            <a:ext cx="274320" cy="274320"/>
          </a:xfrm>
          <a:prstGeom prst="rect">
            <a:avLst/>
          </a:prstGeom>
        </p:spPr>
      </p:pic>
      <p:sp>
        <p:nvSpPr>
          <p:cNvPr id="8" name="Shape 4"/>
          <p:cNvSpPr/>
          <p:nvPr/>
        </p:nvSpPr>
        <p:spPr>
          <a:xfrm>
            <a:off x="3429000" y="1188720"/>
            <a:ext cx="2286000" cy="868680"/>
          </a:xfrm>
          <a:prstGeom prst="roundRect">
            <a:avLst>
              <a:gd name="adj" fmla="val 8421"/>
            </a:avLst>
          </a:prstGeom>
          <a:solidFill>
            <a:srgbClr val="0E7C7B"/>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3429000" y="1188720"/>
            <a:ext cx="2286000" cy="8686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SHA-256</a:t>
            </a:r>
            <a:endParaRPr lang="en-US" sz="1400" dirty="0"/>
          </a:p>
          <a:p>
            <a:pPr algn="ctr" indent="0" marL="0">
              <a:buNone/>
            </a:pPr>
            <a:r>
              <a:rPr lang="en-US" sz="1100" dirty="0">
                <a:solidFill>
                  <a:srgbClr val="E2F4F2"/>
                </a:solidFill>
                <a:latin typeface="Calibri" pitchFamily="34" charset="0"/>
                <a:ea typeface="Calibri" pitchFamily="34" charset="-122"/>
                <a:cs typeface="Calibri" pitchFamily="34" charset="-120"/>
              </a:rPr>
              <a:t>fonction de hachage</a:t>
            </a:r>
            <a:endParaRPr lang="en-US" sz="1400" dirty="0"/>
          </a:p>
        </p:txBody>
      </p:sp>
      <p:pic>
        <p:nvPicPr>
          <p:cNvPr id="10" name="Image 1" descr="preencoded.png">    </p:cNvPr>
          <p:cNvPicPr>
            <a:picLocks noChangeAspect="1"/>
          </p:cNvPicPr>
          <p:nvPr/>
        </p:nvPicPr>
        <p:blipFill>
          <a:blip r:embed="rId2"/>
          <a:stretch>
            <a:fillRect/>
          </a:stretch>
        </p:blipFill>
        <p:spPr>
          <a:xfrm>
            <a:off x="5833872" y="1481328"/>
            <a:ext cx="274320" cy="274320"/>
          </a:xfrm>
          <a:prstGeom prst="rect">
            <a:avLst/>
          </a:prstGeom>
        </p:spPr>
      </p:pic>
      <p:sp>
        <p:nvSpPr>
          <p:cNvPr id="11" name="Shape 6"/>
          <p:cNvSpPr/>
          <p:nvPr/>
        </p:nvSpPr>
        <p:spPr>
          <a:xfrm>
            <a:off x="6400800" y="1188720"/>
            <a:ext cx="2286000" cy="868680"/>
          </a:xfrm>
          <a:prstGeom prst="roundRect">
            <a:avLst>
              <a:gd name="adj" fmla="val 8421"/>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2" name="Text 7"/>
          <p:cNvSpPr txBox="1"/>
          <p:nvPr/>
        </p:nvSpPr>
        <p:spPr>
          <a:xfrm>
            <a:off x="6400800" y="1188720"/>
            <a:ext cx="2286000" cy="868680"/>
          </a:xfrm>
          <a:prstGeom prst="rect">
            <a:avLst/>
          </a:prstGeom>
          <a:noFill/>
          <a:ln/>
        </p:spPr>
        <p:txBody>
          <a:bodyPr wrap="square" lIns="0" tIns="0" rIns="0" bIns="0" rtlCol="0" anchor="ctr"/>
          <a:lstStyle/>
          <a:p>
            <a:pPr algn="ctr" indent="0" marL="0">
              <a:buNone/>
            </a:pPr>
            <a:r>
              <a:rPr lang="en-US" sz="1400" b="1" dirty="0">
                <a:solidFill>
                  <a:srgbClr val="0F2A2E"/>
                </a:solidFill>
                <a:latin typeface="Calibri" pitchFamily="34" charset="0"/>
                <a:ea typeface="Calibri" pitchFamily="34" charset="-122"/>
                <a:cs typeface="Calibri" pitchFamily="34" charset="-120"/>
              </a:rPr>
              <a:t>Empreinte (64 car.)</a:t>
            </a:r>
            <a:endParaRPr lang="en-US" sz="1400" dirty="0"/>
          </a:p>
          <a:p>
            <a:pPr algn="ctr" indent="0" marL="0">
              <a:buNone/>
            </a:pPr>
            <a:r>
              <a:rPr lang="en-US" sz="1100" dirty="0">
                <a:solidFill>
                  <a:srgbClr val="5B6B6E"/>
                </a:solidFill>
                <a:latin typeface="Calibri" pitchFamily="34" charset="0"/>
                <a:ea typeface="Calibri" pitchFamily="34" charset="-122"/>
                <a:cs typeface="Calibri" pitchFamily="34" charset="-120"/>
              </a:rPr>
              <a:t>comparée à celle du compte</a:t>
            </a:r>
            <a:endParaRPr lang="en-US" sz="1400" dirty="0"/>
          </a:p>
        </p:txBody>
      </p:sp>
      <p:sp>
        <p:nvSpPr>
          <p:cNvPr id="13" name="Shape 8"/>
          <p:cNvSpPr/>
          <p:nvPr/>
        </p:nvSpPr>
        <p:spPr>
          <a:xfrm>
            <a:off x="457200" y="2377440"/>
            <a:ext cx="2560320" cy="2148840"/>
          </a:xfrm>
          <a:prstGeom prst="roundRect">
            <a:avLst>
              <a:gd name="adj" fmla="val 3404"/>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4" name="Shape 9"/>
          <p:cNvSpPr/>
          <p:nvPr/>
        </p:nvSpPr>
        <p:spPr>
          <a:xfrm>
            <a:off x="640080" y="2560320"/>
            <a:ext cx="502920" cy="502920"/>
          </a:xfrm>
          <a:prstGeom prst="ellipse">
            <a:avLst/>
          </a:prstGeom>
          <a:solidFill>
            <a:srgbClr val="0E7C7B"/>
          </a:solidFill>
          <a:ln w="12700">
            <a:solidFill>
              <a:srgbClr val="0E7C7B"/>
            </a:solidFill>
            <a:prstDash val="solid"/>
          </a:ln>
        </p:spPr>
      </p:sp>
      <p:pic>
        <p:nvPicPr>
          <p:cNvPr id="15" name="Image 2" descr="preencoded.png">    </p:cNvPr>
          <p:cNvPicPr>
            <a:picLocks noChangeAspect="1"/>
          </p:cNvPicPr>
          <p:nvPr/>
        </p:nvPicPr>
        <p:blipFill>
          <a:blip r:embed="rId3"/>
          <a:stretch>
            <a:fillRect/>
          </a:stretch>
        </p:blipFill>
        <p:spPr>
          <a:xfrm>
            <a:off x="775868" y="2696108"/>
            <a:ext cx="231343" cy="231343"/>
          </a:xfrm>
          <a:prstGeom prst="rect">
            <a:avLst/>
          </a:prstGeom>
        </p:spPr>
      </p:pic>
      <p:sp>
        <p:nvSpPr>
          <p:cNvPr id="16" name="Text 10"/>
          <p:cNvSpPr txBox="1"/>
          <p:nvPr/>
        </p:nvSpPr>
        <p:spPr>
          <a:xfrm>
            <a:off x="640080" y="3200400"/>
            <a:ext cx="2194560" cy="32004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Hachage SHA-256</a:t>
            </a:r>
            <a:endParaRPr lang="en-US" sz="1500" dirty="0"/>
          </a:p>
        </p:txBody>
      </p:sp>
      <p:sp>
        <p:nvSpPr>
          <p:cNvPr id="17" name="Text 11"/>
          <p:cNvSpPr txBox="1"/>
          <p:nvPr/>
        </p:nvSpPr>
        <p:spPr>
          <a:xfrm>
            <a:off x="640080" y="3566160"/>
            <a:ext cx="2194560" cy="91440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Le mot de passe n'est jamais stocké en clair. Un vol de données ne révèle pas les mots de passe.</a:t>
            </a:r>
            <a:endParaRPr lang="en-US" sz="1200" dirty="0"/>
          </a:p>
        </p:txBody>
      </p:sp>
      <p:sp>
        <p:nvSpPr>
          <p:cNvPr id="18" name="Shape 12"/>
          <p:cNvSpPr/>
          <p:nvPr/>
        </p:nvSpPr>
        <p:spPr>
          <a:xfrm>
            <a:off x="3291840" y="2377440"/>
            <a:ext cx="2560320" cy="2148840"/>
          </a:xfrm>
          <a:prstGeom prst="roundRect">
            <a:avLst>
              <a:gd name="adj" fmla="val 3404"/>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9" name="Shape 13"/>
          <p:cNvSpPr/>
          <p:nvPr/>
        </p:nvSpPr>
        <p:spPr>
          <a:xfrm>
            <a:off x="3474720" y="2560320"/>
            <a:ext cx="502920" cy="502920"/>
          </a:xfrm>
          <a:prstGeom prst="ellipse">
            <a:avLst/>
          </a:prstGeom>
          <a:solidFill>
            <a:srgbClr val="0E7C7B"/>
          </a:solidFill>
          <a:ln w="12700">
            <a:solidFill>
              <a:srgbClr val="0E7C7B"/>
            </a:solidFill>
            <a:prstDash val="solid"/>
          </a:ln>
        </p:spPr>
      </p:sp>
      <p:pic>
        <p:nvPicPr>
          <p:cNvPr id="20" name="Image 3" descr="preencoded.png">    </p:cNvPr>
          <p:cNvPicPr>
            <a:picLocks noChangeAspect="1"/>
          </p:cNvPicPr>
          <p:nvPr/>
        </p:nvPicPr>
        <p:blipFill>
          <a:blip r:embed="rId4"/>
          <a:stretch>
            <a:fillRect/>
          </a:stretch>
        </p:blipFill>
        <p:spPr>
          <a:xfrm>
            <a:off x="3610508" y="2696108"/>
            <a:ext cx="231343" cy="231343"/>
          </a:xfrm>
          <a:prstGeom prst="rect">
            <a:avLst/>
          </a:prstGeom>
        </p:spPr>
      </p:pic>
      <p:sp>
        <p:nvSpPr>
          <p:cNvPr id="21" name="Text 14"/>
          <p:cNvSpPr txBox="1"/>
          <p:nvPr/>
        </p:nvSpPr>
        <p:spPr>
          <a:xfrm>
            <a:off x="3474720" y="3200400"/>
            <a:ext cx="2194560" cy="32004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Blocage après 3 échecs</a:t>
            </a:r>
            <a:endParaRPr lang="en-US" sz="1500" dirty="0"/>
          </a:p>
        </p:txBody>
      </p:sp>
      <p:sp>
        <p:nvSpPr>
          <p:cNvPr id="22" name="Text 15"/>
          <p:cNvSpPr txBox="1"/>
          <p:nvPr/>
        </p:nvSpPr>
        <p:spPr>
          <a:xfrm>
            <a:off x="3474720" y="3566160"/>
            <a:ext cx="2194560" cy="91440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Chaque erreur incrémente un compteur. Au troisième échec, le compte est bloqué et l'événement est journalisé.</a:t>
            </a:r>
            <a:endParaRPr lang="en-US" sz="1200" dirty="0"/>
          </a:p>
        </p:txBody>
      </p:sp>
      <p:sp>
        <p:nvSpPr>
          <p:cNvPr id="23" name="Shape 16"/>
          <p:cNvSpPr/>
          <p:nvPr/>
        </p:nvSpPr>
        <p:spPr>
          <a:xfrm>
            <a:off x="6126480" y="2377440"/>
            <a:ext cx="2560320" cy="2148840"/>
          </a:xfrm>
          <a:prstGeom prst="roundRect">
            <a:avLst>
              <a:gd name="adj" fmla="val 3404"/>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4" name="Shape 17"/>
          <p:cNvSpPr/>
          <p:nvPr/>
        </p:nvSpPr>
        <p:spPr>
          <a:xfrm>
            <a:off x="6309360" y="2560320"/>
            <a:ext cx="502920" cy="502920"/>
          </a:xfrm>
          <a:prstGeom prst="ellipse">
            <a:avLst/>
          </a:prstGeom>
          <a:solidFill>
            <a:srgbClr val="0E7C7B"/>
          </a:solidFill>
          <a:ln w="12700">
            <a:solidFill>
              <a:srgbClr val="0E7C7B"/>
            </a:solidFill>
            <a:prstDash val="solid"/>
          </a:ln>
        </p:spPr>
      </p:sp>
      <p:pic>
        <p:nvPicPr>
          <p:cNvPr id="25" name="Image 4" descr="preencoded.png">    </p:cNvPr>
          <p:cNvPicPr>
            <a:picLocks noChangeAspect="1"/>
          </p:cNvPicPr>
          <p:nvPr/>
        </p:nvPicPr>
        <p:blipFill>
          <a:blip r:embed="rId5"/>
          <a:stretch>
            <a:fillRect/>
          </a:stretch>
        </p:blipFill>
        <p:spPr>
          <a:xfrm>
            <a:off x="6445148" y="2696108"/>
            <a:ext cx="231343" cy="231343"/>
          </a:xfrm>
          <a:prstGeom prst="rect">
            <a:avLst/>
          </a:prstGeom>
        </p:spPr>
      </p:pic>
      <p:sp>
        <p:nvSpPr>
          <p:cNvPr id="26" name="Text 18"/>
          <p:cNvSpPr txBox="1"/>
          <p:nvPr/>
        </p:nvSpPr>
        <p:spPr>
          <a:xfrm>
            <a:off x="6309360" y="3200400"/>
            <a:ext cx="2194560" cy="32004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Accès administrateur</a:t>
            </a:r>
            <a:endParaRPr lang="en-US" sz="1500" dirty="0"/>
          </a:p>
        </p:txBody>
      </p:sp>
      <p:sp>
        <p:nvSpPr>
          <p:cNvPr id="27" name="Text 19"/>
          <p:cNvSpPr txBox="1"/>
          <p:nvPr/>
        </p:nvSpPr>
        <p:spPr>
          <a:xfrm>
            <a:off x="6309360" y="3566160"/>
            <a:ext cx="2194560" cy="91440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Le code administrateur est lui aussi comparé sous forme hachée avant d'ouvrir le menu d'administration.</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Opérations bancaires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2560320" cy="3383280"/>
          </a:xfrm>
          <a:prstGeom prst="roundRect">
            <a:avLst>
              <a:gd name="adj" fmla="val 28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280160"/>
            <a:ext cx="502920" cy="5029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75868" y="1415948"/>
            <a:ext cx="231343" cy="231343"/>
          </a:xfrm>
          <a:prstGeom prst="rect">
            <a:avLst/>
          </a:prstGeom>
        </p:spPr>
      </p:pic>
      <p:sp>
        <p:nvSpPr>
          <p:cNvPr id="8" name="Text 4"/>
          <p:cNvSpPr txBox="1"/>
          <p:nvPr/>
        </p:nvSpPr>
        <p:spPr>
          <a:xfrm>
            <a:off x="1280160" y="1280160"/>
            <a:ext cx="1554480" cy="502920"/>
          </a:xfrm>
          <a:prstGeom prst="rect">
            <a:avLst/>
          </a:prstGeom>
          <a:noFill/>
          <a:ln/>
        </p:spPr>
        <p:txBody>
          <a:bodyPr wrap="square" lIns="0" tIns="0" rIns="0" bIns="0" rtlCol="0" anchor="ctr"/>
          <a:lstStyle/>
          <a:p>
            <a:pPr indent="0" marL="0">
              <a:buNone/>
            </a:pPr>
            <a:r>
              <a:rPr lang="en-US" sz="1800" b="1" dirty="0">
                <a:solidFill>
                  <a:srgbClr val="0F2A2E"/>
                </a:solidFill>
                <a:latin typeface="Cambria" pitchFamily="34" charset="0"/>
                <a:ea typeface="Cambria" pitchFamily="34" charset="-122"/>
                <a:cs typeface="Cambria" pitchFamily="34" charset="-120"/>
              </a:rPr>
              <a:t>Dépôt</a:t>
            </a:r>
            <a:endParaRPr lang="en-US" sz="1800" dirty="0"/>
          </a:p>
        </p:txBody>
      </p:sp>
      <p:sp>
        <p:nvSpPr>
          <p:cNvPr id="9" name="Text 5"/>
          <p:cNvSpPr txBox="1"/>
          <p:nvPr/>
        </p:nvSpPr>
        <p:spPr>
          <a:xfrm>
            <a:off x="640080" y="1965960"/>
            <a:ext cx="21945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Vérifications</a:t>
            </a:r>
            <a:endParaRPr lang="en-US" sz="1100" dirty="0"/>
          </a:p>
        </p:txBody>
      </p:sp>
      <p:sp>
        <p:nvSpPr>
          <p:cNvPr id="10" name="Text 6"/>
          <p:cNvSpPr txBox="1"/>
          <p:nvPr/>
        </p:nvSpPr>
        <p:spPr>
          <a:xfrm>
            <a:off x="640080" y="2212848"/>
            <a:ext cx="2240280" cy="9144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Montant supérieur à 0</a:t>
            </a:r>
            <a:endParaRPr lang="en-US" sz="1200" dirty="0"/>
          </a:p>
        </p:txBody>
      </p:sp>
      <p:sp>
        <p:nvSpPr>
          <p:cNvPr id="11" name="Text 7"/>
          <p:cNvSpPr txBox="1"/>
          <p:nvPr/>
        </p:nvSpPr>
        <p:spPr>
          <a:xfrm>
            <a:off x="640080" y="3200400"/>
            <a:ext cx="21945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Effets</a:t>
            </a:r>
            <a:endParaRPr lang="en-US" sz="1100" dirty="0"/>
          </a:p>
        </p:txBody>
      </p:sp>
      <p:sp>
        <p:nvSpPr>
          <p:cNvPr id="12" name="Text 8"/>
          <p:cNvSpPr txBox="1"/>
          <p:nvPr/>
        </p:nvSpPr>
        <p:spPr>
          <a:xfrm>
            <a:off x="640080" y="3447288"/>
            <a:ext cx="224028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Crédite le compte</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Transaction DEPOT</a:t>
            </a:r>
            <a:endParaRPr lang="en-US" sz="1200" dirty="0"/>
          </a:p>
        </p:txBody>
      </p:sp>
      <p:sp>
        <p:nvSpPr>
          <p:cNvPr id="13" name="Shape 9"/>
          <p:cNvSpPr/>
          <p:nvPr/>
        </p:nvSpPr>
        <p:spPr>
          <a:xfrm>
            <a:off x="3291840" y="1143000"/>
            <a:ext cx="2560320" cy="3383280"/>
          </a:xfrm>
          <a:prstGeom prst="roundRect">
            <a:avLst>
              <a:gd name="adj" fmla="val 28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3474720" y="1280160"/>
            <a:ext cx="502920" cy="502920"/>
          </a:xfrm>
          <a:prstGeom prst="ellipse">
            <a:avLst/>
          </a:prstGeom>
          <a:solidFill>
            <a:srgbClr val="0E7C7B"/>
          </a:solidFill>
          <a:ln w="12700">
            <a:solidFill>
              <a:srgbClr val="0E7C7B"/>
            </a:solidFill>
            <a:prstDash val="solid"/>
          </a:ln>
        </p:spPr>
      </p:sp>
      <p:pic>
        <p:nvPicPr>
          <p:cNvPr id="15" name="Image 1" descr="preencoded.png">    </p:cNvPr>
          <p:cNvPicPr>
            <a:picLocks noChangeAspect="1"/>
          </p:cNvPicPr>
          <p:nvPr/>
        </p:nvPicPr>
        <p:blipFill>
          <a:blip r:embed="rId2"/>
          <a:stretch>
            <a:fillRect/>
          </a:stretch>
        </p:blipFill>
        <p:spPr>
          <a:xfrm>
            <a:off x="3610508" y="1415948"/>
            <a:ext cx="231343" cy="231343"/>
          </a:xfrm>
          <a:prstGeom prst="rect">
            <a:avLst/>
          </a:prstGeom>
        </p:spPr>
      </p:pic>
      <p:sp>
        <p:nvSpPr>
          <p:cNvPr id="16" name="Text 11"/>
          <p:cNvSpPr txBox="1"/>
          <p:nvPr/>
        </p:nvSpPr>
        <p:spPr>
          <a:xfrm>
            <a:off x="4114800" y="1280160"/>
            <a:ext cx="1554480" cy="502920"/>
          </a:xfrm>
          <a:prstGeom prst="rect">
            <a:avLst/>
          </a:prstGeom>
          <a:noFill/>
          <a:ln/>
        </p:spPr>
        <p:txBody>
          <a:bodyPr wrap="square" lIns="0" tIns="0" rIns="0" bIns="0" rtlCol="0" anchor="ctr"/>
          <a:lstStyle/>
          <a:p>
            <a:pPr indent="0" marL="0">
              <a:buNone/>
            </a:pPr>
            <a:r>
              <a:rPr lang="en-US" sz="1800" b="1" dirty="0">
                <a:solidFill>
                  <a:srgbClr val="0F2A2E"/>
                </a:solidFill>
                <a:latin typeface="Cambria" pitchFamily="34" charset="0"/>
                <a:ea typeface="Cambria" pitchFamily="34" charset="-122"/>
                <a:cs typeface="Cambria" pitchFamily="34" charset="-120"/>
              </a:rPr>
              <a:t>Retrait</a:t>
            </a:r>
            <a:endParaRPr lang="en-US" sz="1800" dirty="0"/>
          </a:p>
        </p:txBody>
      </p:sp>
      <p:sp>
        <p:nvSpPr>
          <p:cNvPr id="17" name="Text 12"/>
          <p:cNvSpPr txBox="1"/>
          <p:nvPr/>
        </p:nvSpPr>
        <p:spPr>
          <a:xfrm>
            <a:off x="3474720" y="1965960"/>
            <a:ext cx="21945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Vérifications</a:t>
            </a:r>
            <a:endParaRPr lang="en-US" sz="1100" dirty="0"/>
          </a:p>
        </p:txBody>
      </p:sp>
      <p:sp>
        <p:nvSpPr>
          <p:cNvPr id="18" name="Text 13"/>
          <p:cNvSpPr txBox="1"/>
          <p:nvPr/>
        </p:nvSpPr>
        <p:spPr>
          <a:xfrm>
            <a:off x="3474720" y="2212848"/>
            <a:ext cx="2240280" cy="9144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Montant supérieur à 0</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Solde suffisant</a:t>
            </a:r>
            <a:endParaRPr lang="en-US" sz="1200" dirty="0"/>
          </a:p>
        </p:txBody>
      </p:sp>
      <p:sp>
        <p:nvSpPr>
          <p:cNvPr id="19" name="Text 14"/>
          <p:cNvSpPr txBox="1"/>
          <p:nvPr/>
        </p:nvSpPr>
        <p:spPr>
          <a:xfrm>
            <a:off x="3474720" y="3200400"/>
            <a:ext cx="21945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Effets</a:t>
            </a:r>
            <a:endParaRPr lang="en-US" sz="1100" dirty="0"/>
          </a:p>
        </p:txBody>
      </p:sp>
      <p:sp>
        <p:nvSpPr>
          <p:cNvPr id="20" name="Text 15"/>
          <p:cNvSpPr txBox="1"/>
          <p:nvPr/>
        </p:nvSpPr>
        <p:spPr>
          <a:xfrm>
            <a:off x="3474720" y="3447288"/>
            <a:ext cx="224028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Débite le compte</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Analyse de fraude</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Transaction RETRAIT</a:t>
            </a:r>
            <a:endParaRPr lang="en-US" sz="1200" dirty="0"/>
          </a:p>
        </p:txBody>
      </p:sp>
      <p:sp>
        <p:nvSpPr>
          <p:cNvPr id="21" name="Shape 16"/>
          <p:cNvSpPr/>
          <p:nvPr/>
        </p:nvSpPr>
        <p:spPr>
          <a:xfrm>
            <a:off x="6126480" y="1143000"/>
            <a:ext cx="2560320" cy="3383280"/>
          </a:xfrm>
          <a:prstGeom prst="roundRect">
            <a:avLst>
              <a:gd name="adj" fmla="val 28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2" name="Shape 17"/>
          <p:cNvSpPr/>
          <p:nvPr/>
        </p:nvSpPr>
        <p:spPr>
          <a:xfrm>
            <a:off x="6309360" y="1280160"/>
            <a:ext cx="502920" cy="502920"/>
          </a:xfrm>
          <a:prstGeom prst="ellipse">
            <a:avLst/>
          </a:prstGeom>
          <a:solidFill>
            <a:srgbClr val="0E7C7B"/>
          </a:solidFill>
          <a:ln w="12700">
            <a:solidFill>
              <a:srgbClr val="0E7C7B"/>
            </a:solidFill>
            <a:prstDash val="solid"/>
          </a:ln>
        </p:spPr>
      </p:sp>
      <p:pic>
        <p:nvPicPr>
          <p:cNvPr id="23" name="Image 2" descr="preencoded.png">    </p:cNvPr>
          <p:cNvPicPr>
            <a:picLocks noChangeAspect="1"/>
          </p:cNvPicPr>
          <p:nvPr/>
        </p:nvPicPr>
        <p:blipFill>
          <a:blip r:embed="rId3"/>
          <a:stretch>
            <a:fillRect/>
          </a:stretch>
        </p:blipFill>
        <p:spPr>
          <a:xfrm>
            <a:off x="6445148" y="1415948"/>
            <a:ext cx="231343" cy="231343"/>
          </a:xfrm>
          <a:prstGeom prst="rect">
            <a:avLst/>
          </a:prstGeom>
        </p:spPr>
      </p:pic>
      <p:sp>
        <p:nvSpPr>
          <p:cNvPr id="24" name="Text 18"/>
          <p:cNvSpPr txBox="1"/>
          <p:nvPr/>
        </p:nvSpPr>
        <p:spPr>
          <a:xfrm>
            <a:off x="6949440" y="1280160"/>
            <a:ext cx="1554480" cy="502920"/>
          </a:xfrm>
          <a:prstGeom prst="rect">
            <a:avLst/>
          </a:prstGeom>
          <a:noFill/>
          <a:ln/>
        </p:spPr>
        <p:txBody>
          <a:bodyPr wrap="square" lIns="0" tIns="0" rIns="0" bIns="0" rtlCol="0" anchor="ctr"/>
          <a:lstStyle/>
          <a:p>
            <a:pPr indent="0" marL="0">
              <a:buNone/>
            </a:pPr>
            <a:r>
              <a:rPr lang="en-US" sz="1800" b="1" dirty="0">
                <a:solidFill>
                  <a:srgbClr val="0F2A2E"/>
                </a:solidFill>
                <a:latin typeface="Cambria" pitchFamily="34" charset="0"/>
                <a:ea typeface="Cambria" pitchFamily="34" charset="-122"/>
                <a:cs typeface="Cambria" pitchFamily="34" charset="-120"/>
              </a:rPr>
              <a:t>Virement</a:t>
            </a:r>
            <a:endParaRPr lang="en-US" sz="1800" dirty="0"/>
          </a:p>
        </p:txBody>
      </p:sp>
      <p:sp>
        <p:nvSpPr>
          <p:cNvPr id="25" name="Text 19"/>
          <p:cNvSpPr txBox="1"/>
          <p:nvPr/>
        </p:nvSpPr>
        <p:spPr>
          <a:xfrm>
            <a:off x="6309360" y="1965960"/>
            <a:ext cx="21945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Vérifications</a:t>
            </a:r>
            <a:endParaRPr lang="en-US" sz="1100" dirty="0"/>
          </a:p>
        </p:txBody>
      </p:sp>
      <p:sp>
        <p:nvSpPr>
          <p:cNvPr id="26" name="Text 20"/>
          <p:cNvSpPr txBox="1"/>
          <p:nvPr/>
        </p:nvSpPr>
        <p:spPr>
          <a:xfrm>
            <a:off x="6309360" y="2212848"/>
            <a:ext cx="2240280" cy="91440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Destinataire existant et actif</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Différent de la source</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Solde suffisant</a:t>
            </a:r>
            <a:endParaRPr lang="en-US" sz="1200" dirty="0"/>
          </a:p>
        </p:txBody>
      </p:sp>
      <p:sp>
        <p:nvSpPr>
          <p:cNvPr id="27" name="Text 21"/>
          <p:cNvSpPr txBox="1"/>
          <p:nvPr/>
        </p:nvSpPr>
        <p:spPr>
          <a:xfrm>
            <a:off x="6309360" y="3200400"/>
            <a:ext cx="2194560" cy="228600"/>
          </a:xfrm>
          <a:prstGeom prst="rect">
            <a:avLst/>
          </a:prstGeom>
          <a:noFill/>
          <a:ln/>
        </p:spPr>
        <p:txBody>
          <a:bodyPr wrap="square" lIns="0" tIns="0" rIns="0" bIns="0" rtlCol="0" anchor="t"/>
          <a:lstStyle/>
          <a:p>
            <a:pPr indent="0" marL="0">
              <a:buNone/>
            </a:pPr>
            <a:r>
              <a:rPr lang="en-US" sz="1100" b="1" dirty="0">
                <a:solidFill>
                  <a:srgbClr val="0E7C7B"/>
                </a:solidFill>
                <a:latin typeface="Calibri" pitchFamily="34" charset="0"/>
                <a:ea typeface="Calibri" pitchFamily="34" charset="-122"/>
                <a:cs typeface="Calibri" pitchFamily="34" charset="-120"/>
              </a:rPr>
              <a:t>Effets</a:t>
            </a:r>
            <a:endParaRPr lang="en-US" sz="1100" dirty="0"/>
          </a:p>
        </p:txBody>
      </p:sp>
      <p:sp>
        <p:nvSpPr>
          <p:cNvPr id="28" name="Text 22"/>
          <p:cNvSpPr txBox="1"/>
          <p:nvPr/>
        </p:nvSpPr>
        <p:spPr>
          <a:xfrm>
            <a:off x="6309360" y="3447288"/>
            <a:ext cx="2240280" cy="100584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Débite la source, crédite le destinataire</a:t>
            </a:r>
            <a:endParaRPr lang="en-US" sz="1200" dirty="0"/>
          </a:p>
          <a:p>
            <a:pPr marL="177800" indent="-177800">
              <a:spcAft>
                <a:spcPts val="500"/>
              </a:spcAft>
              <a:buSzPct val="100000"/>
              <a:buChar char="•"/>
            </a:pPr>
            <a:r>
              <a:rPr lang="en-US" sz="1200" dirty="0">
                <a:solidFill>
                  <a:srgbClr val="1F2D2F"/>
                </a:solidFill>
                <a:latin typeface="Calibri" pitchFamily="34" charset="0"/>
                <a:ea typeface="Calibri" pitchFamily="34" charset="-122"/>
                <a:cs typeface="Calibri" pitchFamily="34" charset="-120"/>
              </a:rPr>
              <a:t>Analyse de fraude</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Détection de fraude</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4023360" cy="1874520"/>
          </a:xfrm>
          <a:prstGeom prst="roundRect">
            <a:avLst>
              <a:gd name="adj" fmla="val 3902"/>
            </a:avLst>
          </a:prstGeom>
          <a:solidFill>
            <a:srgbClr val="0F2A2E"/>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31520" y="1325880"/>
            <a:ext cx="3474720" cy="274320"/>
          </a:xfrm>
          <a:prstGeom prst="rect">
            <a:avLst/>
          </a:prstGeom>
          <a:noFill/>
          <a:ln/>
        </p:spPr>
        <p:txBody>
          <a:bodyPr wrap="square" lIns="0" tIns="0" rIns="0" bIns="0" rtlCol="0" anchor="t"/>
          <a:lstStyle/>
          <a:p>
            <a:pPr indent="0" marL="0">
              <a:buNone/>
            </a:pPr>
            <a:r>
              <a:rPr lang="en-US" sz="1200" b="1" dirty="0">
                <a:solidFill>
                  <a:srgbClr val="9FD3CF"/>
                </a:solidFill>
                <a:latin typeface="Calibri" pitchFamily="34" charset="0"/>
                <a:ea typeface="Calibri" pitchFamily="34" charset="-122"/>
                <a:cs typeface="Calibri" pitchFamily="34" charset="-120"/>
              </a:rPr>
              <a:t>Règle 1 · Montant élevé</a:t>
            </a:r>
            <a:endParaRPr lang="en-US" sz="1200" dirty="0"/>
          </a:p>
        </p:txBody>
      </p:sp>
      <p:sp>
        <p:nvSpPr>
          <p:cNvPr id="7" name="Text 4"/>
          <p:cNvSpPr txBox="1"/>
          <p:nvPr/>
        </p:nvSpPr>
        <p:spPr>
          <a:xfrm>
            <a:off x="731520" y="1645920"/>
            <a:ext cx="3474720" cy="731520"/>
          </a:xfrm>
          <a:prstGeom prst="rect">
            <a:avLst/>
          </a:prstGeom>
          <a:noFill/>
          <a:ln/>
        </p:spPr>
        <p:txBody>
          <a:bodyPr wrap="square" lIns="0" tIns="0" rIns="0" bIns="0" rtlCol="0" anchor="ctr"/>
          <a:lstStyle/>
          <a:p>
            <a:pPr indent="0" marL="0">
              <a:buNone/>
            </a:pPr>
            <a:r>
              <a:rPr lang="en-US" sz="4400" b="1" dirty="0">
                <a:solidFill>
                  <a:srgbClr val="F2A93B"/>
                </a:solidFill>
                <a:latin typeface="Cambria" pitchFamily="34" charset="0"/>
                <a:ea typeface="Cambria" pitchFamily="34" charset="-122"/>
                <a:cs typeface="Cambria" pitchFamily="34" charset="-120"/>
              </a:rPr>
              <a:t>≥ 500 000</a:t>
            </a:r>
            <a:endParaRPr lang="en-US" sz="4400" dirty="0"/>
          </a:p>
        </p:txBody>
      </p:sp>
      <p:sp>
        <p:nvSpPr>
          <p:cNvPr id="8" name="Text 5"/>
          <p:cNvSpPr txBox="1"/>
          <p:nvPr/>
        </p:nvSpPr>
        <p:spPr>
          <a:xfrm>
            <a:off x="731520" y="2423160"/>
            <a:ext cx="347472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FCFA en une opération</a:t>
            </a:r>
            <a:endParaRPr lang="en-US" sz="1500" dirty="0"/>
          </a:p>
        </p:txBody>
      </p:sp>
      <p:sp>
        <p:nvSpPr>
          <p:cNvPr id="9" name="Shape 6"/>
          <p:cNvSpPr/>
          <p:nvPr/>
        </p:nvSpPr>
        <p:spPr>
          <a:xfrm>
            <a:off x="4663440" y="1143000"/>
            <a:ext cx="4023360" cy="1874520"/>
          </a:xfrm>
          <a:prstGeom prst="roundRect">
            <a:avLst>
              <a:gd name="adj" fmla="val 3902"/>
            </a:avLst>
          </a:prstGeom>
          <a:solidFill>
            <a:srgbClr val="0F2A2E"/>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0" name="Text 7"/>
          <p:cNvSpPr txBox="1"/>
          <p:nvPr/>
        </p:nvSpPr>
        <p:spPr>
          <a:xfrm>
            <a:off x="4937760" y="1325880"/>
            <a:ext cx="3474720" cy="274320"/>
          </a:xfrm>
          <a:prstGeom prst="rect">
            <a:avLst/>
          </a:prstGeom>
          <a:noFill/>
          <a:ln/>
        </p:spPr>
        <p:txBody>
          <a:bodyPr wrap="square" lIns="0" tIns="0" rIns="0" bIns="0" rtlCol="0" anchor="t"/>
          <a:lstStyle/>
          <a:p>
            <a:pPr indent="0" marL="0">
              <a:buNone/>
            </a:pPr>
            <a:r>
              <a:rPr lang="en-US" sz="1200" b="1" dirty="0">
                <a:solidFill>
                  <a:srgbClr val="9FD3CF"/>
                </a:solidFill>
                <a:latin typeface="Calibri" pitchFamily="34" charset="0"/>
                <a:ea typeface="Calibri" pitchFamily="34" charset="-122"/>
                <a:cs typeface="Calibri" pitchFamily="34" charset="-120"/>
              </a:rPr>
              <a:t>Règle 2 · Fréquence anormale</a:t>
            </a:r>
            <a:endParaRPr lang="en-US" sz="1200" dirty="0"/>
          </a:p>
        </p:txBody>
      </p:sp>
      <p:sp>
        <p:nvSpPr>
          <p:cNvPr id="11" name="Text 8"/>
          <p:cNvSpPr txBox="1"/>
          <p:nvPr/>
        </p:nvSpPr>
        <p:spPr>
          <a:xfrm>
            <a:off x="4937760" y="1645920"/>
            <a:ext cx="3474720" cy="731520"/>
          </a:xfrm>
          <a:prstGeom prst="rect">
            <a:avLst/>
          </a:prstGeom>
          <a:noFill/>
          <a:ln/>
        </p:spPr>
        <p:txBody>
          <a:bodyPr wrap="square" lIns="0" tIns="0" rIns="0" bIns="0" rtlCol="0" anchor="ctr"/>
          <a:lstStyle/>
          <a:p>
            <a:pPr indent="0" marL="0">
              <a:buNone/>
            </a:pPr>
            <a:r>
              <a:rPr lang="en-US" sz="4400" b="1" dirty="0">
                <a:solidFill>
                  <a:srgbClr val="F2A93B"/>
                </a:solidFill>
                <a:latin typeface="Cambria" pitchFamily="34" charset="0"/>
                <a:ea typeface="Cambria" pitchFamily="34" charset="-122"/>
                <a:cs typeface="Cambria" pitchFamily="34" charset="-120"/>
              </a:rPr>
              <a:t>≥ 3</a:t>
            </a:r>
            <a:endParaRPr lang="en-US" sz="4400" dirty="0"/>
          </a:p>
        </p:txBody>
      </p:sp>
      <p:sp>
        <p:nvSpPr>
          <p:cNvPr id="12" name="Text 9"/>
          <p:cNvSpPr txBox="1"/>
          <p:nvPr/>
        </p:nvSpPr>
        <p:spPr>
          <a:xfrm>
            <a:off x="4937760" y="2423160"/>
            <a:ext cx="3474720" cy="365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opérations sortantes en 60 s</a:t>
            </a:r>
            <a:endParaRPr lang="en-US" sz="1500" dirty="0"/>
          </a:p>
        </p:txBody>
      </p:sp>
      <p:sp>
        <p:nvSpPr>
          <p:cNvPr id="13" name="Shape 10"/>
          <p:cNvSpPr/>
          <p:nvPr/>
        </p:nvSpPr>
        <p:spPr>
          <a:xfrm>
            <a:off x="457200" y="3383280"/>
            <a:ext cx="1828800" cy="1051560"/>
          </a:xfrm>
          <a:prstGeom prst="roundRect">
            <a:avLst>
              <a:gd name="adj" fmla="val 69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457200" y="3383280"/>
            <a:ext cx="1828800" cy="1051560"/>
          </a:xfrm>
          <a:prstGeom prst="rect">
            <a:avLst/>
          </a:prstGeom>
          <a:noFill/>
          <a:ln/>
        </p:spPr>
        <p:txBody>
          <a:bodyPr wrap="square" lIns="0" tIns="0" rIns="0" bIns="0" rtlCol="0" anchor="ctr"/>
          <a:lstStyle/>
          <a:p>
            <a:pPr algn="ctr" indent="0" marL="0">
              <a:buNone/>
            </a:pPr>
            <a:r>
              <a:rPr lang="en-US" sz="1300" b="1" dirty="0">
                <a:solidFill>
                  <a:srgbClr val="0F2A2E"/>
                </a:solidFill>
                <a:latin typeface="Calibri" pitchFamily="34" charset="0"/>
                <a:ea typeface="Calibri" pitchFamily="34" charset="-122"/>
                <a:cs typeface="Calibri" pitchFamily="34" charset="-120"/>
              </a:rPr>
              <a:t>Opération</a:t>
            </a:r>
            <a:endParaRPr lang="en-US" sz="1400" dirty="0"/>
          </a:p>
          <a:p>
            <a:pPr algn="ctr" indent="0" marL="0">
              <a:buNone/>
            </a:pPr>
            <a:r>
              <a:rPr lang="en-US" sz="1100" dirty="0">
                <a:solidFill>
                  <a:srgbClr val="5B6B6E"/>
                </a:solidFill>
                <a:latin typeface="Calibri" pitchFamily="34" charset="0"/>
                <a:ea typeface="Calibri" pitchFamily="34" charset="-122"/>
                <a:cs typeface="Calibri" pitchFamily="34" charset="-120"/>
              </a:rPr>
              <a:t>retrait ou virement</a:t>
            </a:r>
            <a:endParaRPr lang="en-US" sz="1400" dirty="0"/>
          </a:p>
        </p:txBody>
      </p:sp>
      <p:pic>
        <p:nvPicPr>
          <p:cNvPr id="15" name="Image 0" descr="preencoded.png">    </p:cNvPr>
          <p:cNvPicPr>
            <a:picLocks noChangeAspect="1"/>
          </p:cNvPicPr>
          <p:nvPr/>
        </p:nvPicPr>
        <p:blipFill>
          <a:blip r:embed="rId1"/>
          <a:stretch>
            <a:fillRect/>
          </a:stretch>
        </p:blipFill>
        <p:spPr>
          <a:xfrm>
            <a:off x="2322576" y="3767328"/>
            <a:ext cx="256032" cy="256032"/>
          </a:xfrm>
          <a:prstGeom prst="rect">
            <a:avLst/>
          </a:prstGeom>
        </p:spPr>
      </p:pic>
      <p:sp>
        <p:nvSpPr>
          <p:cNvPr id="16" name="Shape 12"/>
          <p:cNvSpPr/>
          <p:nvPr/>
        </p:nvSpPr>
        <p:spPr>
          <a:xfrm>
            <a:off x="2606040" y="3383280"/>
            <a:ext cx="1828800" cy="1051560"/>
          </a:xfrm>
          <a:prstGeom prst="roundRect">
            <a:avLst>
              <a:gd name="adj" fmla="val 69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7" name="Text 13"/>
          <p:cNvSpPr txBox="1"/>
          <p:nvPr/>
        </p:nvSpPr>
        <p:spPr>
          <a:xfrm>
            <a:off x="2606040" y="3383280"/>
            <a:ext cx="1828800" cy="1051560"/>
          </a:xfrm>
          <a:prstGeom prst="rect">
            <a:avLst/>
          </a:prstGeom>
          <a:noFill/>
          <a:ln/>
        </p:spPr>
        <p:txBody>
          <a:bodyPr wrap="square" lIns="0" tIns="0" rIns="0" bIns="0" rtlCol="0" anchor="ctr"/>
          <a:lstStyle/>
          <a:p>
            <a:pPr algn="ctr" indent="0" marL="0">
              <a:buNone/>
            </a:pPr>
            <a:r>
              <a:rPr lang="en-US" sz="1300" b="1" dirty="0">
                <a:solidFill>
                  <a:srgbClr val="0F2A2E"/>
                </a:solidFill>
                <a:latin typeface="Calibri" pitchFamily="34" charset="0"/>
                <a:ea typeface="Calibri" pitchFamily="34" charset="-122"/>
                <a:cs typeface="Calibri" pitchFamily="34" charset="-120"/>
              </a:rPr>
              <a:t>analyserFraude()</a:t>
            </a:r>
            <a:endParaRPr lang="en-US" sz="1400" dirty="0"/>
          </a:p>
          <a:p>
            <a:pPr algn="ctr" indent="0" marL="0">
              <a:buNone/>
            </a:pPr>
            <a:r>
              <a:rPr lang="en-US" sz="1100" dirty="0">
                <a:solidFill>
                  <a:srgbClr val="5B6B6E"/>
                </a:solidFill>
                <a:latin typeface="Calibri" pitchFamily="34" charset="0"/>
                <a:ea typeface="Calibri" pitchFamily="34" charset="-122"/>
                <a:cs typeface="Calibri" pitchFamily="34" charset="-120"/>
              </a:rPr>
              <a:t>test des deux règles</a:t>
            </a:r>
            <a:endParaRPr lang="en-US" sz="1400" dirty="0"/>
          </a:p>
        </p:txBody>
      </p:sp>
      <p:pic>
        <p:nvPicPr>
          <p:cNvPr id="18" name="Image 1" descr="preencoded.png">    </p:cNvPr>
          <p:cNvPicPr>
            <a:picLocks noChangeAspect="1"/>
          </p:cNvPicPr>
          <p:nvPr/>
        </p:nvPicPr>
        <p:blipFill>
          <a:blip r:embed="rId2"/>
          <a:stretch>
            <a:fillRect/>
          </a:stretch>
        </p:blipFill>
        <p:spPr>
          <a:xfrm>
            <a:off x="4471416" y="3767328"/>
            <a:ext cx="256032" cy="256032"/>
          </a:xfrm>
          <a:prstGeom prst="rect">
            <a:avLst/>
          </a:prstGeom>
        </p:spPr>
      </p:pic>
      <p:sp>
        <p:nvSpPr>
          <p:cNvPr id="19" name="Shape 14"/>
          <p:cNvSpPr/>
          <p:nvPr/>
        </p:nvSpPr>
        <p:spPr>
          <a:xfrm>
            <a:off x="4754880" y="3383280"/>
            <a:ext cx="1828800" cy="1051560"/>
          </a:xfrm>
          <a:prstGeom prst="roundRect">
            <a:avLst>
              <a:gd name="adj" fmla="val 6957"/>
            </a:avLst>
          </a:prstGeom>
          <a:solidFill>
            <a:srgbClr val="F2A93B"/>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0" name="Text 15"/>
          <p:cNvSpPr txBox="1"/>
          <p:nvPr/>
        </p:nvSpPr>
        <p:spPr>
          <a:xfrm>
            <a:off x="4754880" y="3383280"/>
            <a:ext cx="1828800" cy="1051560"/>
          </a:xfrm>
          <a:prstGeom prst="rect">
            <a:avLst/>
          </a:prstGeom>
          <a:noFill/>
          <a:ln/>
        </p:spPr>
        <p:txBody>
          <a:bodyPr wrap="square" lIns="0" tIns="0" rIns="0" bIns="0" rtlCol="0" anchor="ctr"/>
          <a:lstStyle/>
          <a:p>
            <a:pPr algn="ctr" indent="0" marL="0">
              <a:buNone/>
            </a:pPr>
            <a:r>
              <a:rPr lang="en-US" sz="1300" b="1" dirty="0">
                <a:solidFill>
                  <a:srgbClr val="0F2A2E"/>
                </a:solidFill>
                <a:latin typeface="Calibri" pitchFamily="34" charset="0"/>
                <a:ea typeface="Calibri" pitchFamily="34" charset="-122"/>
                <a:cs typeface="Calibri" pitchFamily="34" charset="-120"/>
              </a:rPr>
              <a:t>Marquée suspecte</a:t>
            </a:r>
            <a:endParaRPr lang="en-US" sz="1400" dirty="0"/>
          </a:p>
          <a:p>
            <a:pPr algn="ctr" indent="0" marL="0">
              <a:buNone/>
            </a:pPr>
            <a:r>
              <a:rPr lang="en-US" sz="1100" dirty="0">
                <a:solidFill>
                  <a:srgbClr val="0F2A2E"/>
                </a:solidFill>
                <a:latin typeface="Calibri" pitchFamily="34" charset="0"/>
                <a:ea typeface="Calibri" pitchFamily="34" charset="-122"/>
                <a:cs typeface="Calibri" pitchFamily="34" charset="-120"/>
              </a:rPr>
              <a:t>avec son motif</a:t>
            </a:r>
            <a:endParaRPr lang="en-US" sz="1400" dirty="0"/>
          </a:p>
        </p:txBody>
      </p:sp>
      <p:pic>
        <p:nvPicPr>
          <p:cNvPr id="21" name="Image 2" descr="preencoded.png">    </p:cNvPr>
          <p:cNvPicPr>
            <a:picLocks noChangeAspect="1"/>
          </p:cNvPicPr>
          <p:nvPr/>
        </p:nvPicPr>
        <p:blipFill>
          <a:blip r:embed="rId3"/>
          <a:stretch>
            <a:fillRect/>
          </a:stretch>
        </p:blipFill>
        <p:spPr>
          <a:xfrm>
            <a:off x="6620256" y="3767328"/>
            <a:ext cx="256032" cy="256032"/>
          </a:xfrm>
          <a:prstGeom prst="rect">
            <a:avLst/>
          </a:prstGeom>
        </p:spPr>
      </p:pic>
      <p:sp>
        <p:nvSpPr>
          <p:cNvPr id="22" name="Shape 16"/>
          <p:cNvSpPr/>
          <p:nvPr/>
        </p:nvSpPr>
        <p:spPr>
          <a:xfrm>
            <a:off x="6903720" y="3383280"/>
            <a:ext cx="1828800" cy="1051560"/>
          </a:xfrm>
          <a:prstGeom prst="roundRect">
            <a:avLst>
              <a:gd name="adj" fmla="val 69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23" name="Text 17"/>
          <p:cNvSpPr txBox="1"/>
          <p:nvPr/>
        </p:nvSpPr>
        <p:spPr>
          <a:xfrm>
            <a:off x="6903720" y="3383280"/>
            <a:ext cx="1828800" cy="1051560"/>
          </a:xfrm>
          <a:prstGeom prst="rect">
            <a:avLst/>
          </a:prstGeom>
          <a:noFill/>
          <a:ln/>
        </p:spPr>
        <p:txBody>
          <a:bodyPr wrap="square" lIns="0" tIns="0" rIns="0" bIns="0" rtlCol="0" anchor="ctr"/>
          <a:lstStyle/>
          <a:p>
            <a:pPr algn="ctr" indent="0" marL="0">
              <a:buNone/>
            </a:pPr>
            <a:r>
              <a:rPr lang="en-US" sz="1300" b="1" dirty="0">
                <a:solidFill>
                  <a:srgbClr val="0F2A2E"/>
                </a:solidFill>
                <a:latin typeface="Calibri" pitchFamily="34" charset="0"/>
                <a:ea typeface="Calibri" pitchFamily="34" charset="-122"/>
                <a:cs typeface="Calibri" pitchFamily="34" charset="-120"/>
              </a:rPr>
              <a:t>Vue administrateur</a:t>
            </a:r>
            <a:endParaRPr lang="en-US" sz="1400" dirty="0"/>
          </a:p>
          <a:p>
            <a:pPr algn="ctr" indent="0" marL="0">
              <a:buNone/>
            </a:pPr>
            <a:r>
              <a:rPr lang="en-US" sz="1100" dirty="0">
                <a:solidFill>
                  <a:srgbClr val="5B6B6E"/>
                </a:solidFill>
                <a:latin typeface="Calibri" pitchFamily="34" charset="0"/>
                <a:ea typeface="Calibri" pitchFamily="34" charset="-122"/>
                <a:cs typeface="Calibri" pitchFamily="34" charset="-120"/>
              </a:rPr>
              <a:t>liste des suspectes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Administration, journal et relevés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2560320" cy="3383280"/>
          </a:xfrm>
          <a:prstGeom prst="roundRect">
            <a:avLst>
              <a:gd name="adj" fmla="val 28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280160"/>
            <a:ext cx="502920" cy="5029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75868" y="1415948"/>
            <a:ext cx="231343" cy="231343"/>
          </a:xfrm>
          <a:prstGeom prst="rect">
            <a:avLst/>
          </a:prstGeom>
        </p:spPr>
      </p:pic>
      <p:sp>
        <p:nvSpPr>
          <p:cNvPr id="8" name="Text 4"/>
          <p:cNvSpPr txBox="1"/>
          <p:nvPr/>
        </p:nvSpPr>
        <p:spPr>
          <a:xfrm>
            <a:off x="1280160" y="1280160"/>
            <a:ext cx="1600200" cy="502920"/>
          </a:xfrm>
          <a:prstGeom prst="rect">
            <a:avLst/>
          </a:prstGeom>
          <a:noFill/>
          <a:ln/>
        </p:spPr>
        <p:txBody>
          <a:bodyPr wrap="square" lIns="0" tIns="0" rIns="0" bIns="0" rtlCol="0" anchor="ctr"/>
          <a:lstStyle/>
          <a:p>
            <a:pPr indent="0" marL="0">
              <a:buNone/>
            </a:pPr>
            <a:r>
              <a:rPr lang="en-US" sz="1500" b="1" dirty="0">
                <a:solidFill>
                  <a:srgbClr val="0F2A2E"/>
                </a:solidFill>
                <a:latin typeface="Cambria" pitchFamily="34" charset="0"/>
                <a:ea typeface="Cambria" pitchFamily="34" charset="-122"/>
                <a:cs typeface="Cambria" pitchFamily="34" charset="-120"/>
              </a:rPr>
              <a:t>Administration</a:t>
            </a:r>
            <a:endParaRPr lang="en-US" sz="1500" dirty="0"/>
          </a:p>
        </p:txBody>
      </p:sp>
      <p:sp>
        <p:nvSpPr>
          <p:cNvPr id="9" name="Text 5"/>
          <p:cNvSpPr txBox="1"/>
          <p:nvPr/>
        </p:nvSpPr>
        <p:spPr>
          <a:xfrm>
            <a:off x="640080" y="2011680"/>
            <a:ext cx="224028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Liste des comptes et de leur état</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Transactions suspectes</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Bloquer / débloquer un compte</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Accès par code protégé</a:t>
            </a:r>
            <a:endParaRPr lang="en-US" sz="1300" dirty="0"/>
          </a:p>
        </p:txBody>
      </p:sp>
      <p:sp>
        <p:nvSpPr>
          <p:cNvPr id="10" name="Shape 6"/>
          <p:cNvSpPr/>
          <p:nvPr/>
        </p:nvSpPr>
        <p:spPr>
          <a:xfrm>
            <a:off x="3291840" y="1143000"/>
            <a:ext cx="2560320" cy="3383280"/>
          </a:xfrm>
          <a:prstGeom prst="roundRect">
            <a:avLst>
              <a:gd name="adj" fmla="val 28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3474720" y="1280160"/>
            <a:ext cx="502920" cy="502920"/>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3610508" y="1415948"/>
            <a:ext cx="231343" cy="231343"/>
          </a:xfrm>
          <a:prstGeom prst="rect">
            <a:avLst/>
          </a:prstGeom>
        </p:spPr>
      </p:pic>
      <p:sp>
        <p:nvSpPr>
          <p:cNvPr id="13" name="Text 8"/>
          <p:cNvSpPr txBox="1"/>
          <p:nvPr/>
        </p:nvSpPr>
        <p:spPr>
          <a:xfrm>
            <a:off x="4114800" y="1280160"/>
            <a:ext cx="1600200" cy="502920"/>
          </a:xfrm>
          <a:prstGeom prst="rect">
            <a:avLst/>
          </a:prstGeom>
          <a:noFill/>
          <a:ln/>
        </p:spPr>
        <p:txBody>
          <a:bodyPr wrap="square" lIns="0" tIns="0" rIns="0" bIns="0" rtlCol="0" anchor="ctr"/>
          <a:lstStyle/>
          <a:p>
            <a:pPr indent="0" marL="0">
              <a:buNone/>
            </a:pPr>
            <a:r>
              <a:rPr lang="en-US" sz="1500" b="1" dirty="0">
                <a:solidFill>
                  <a:srgbClr val="0F2A2E"/>
                </a:solidFill>
                <a:latin typeface="Cambria" pitchFamily="34" charset="0"/>
                <a:ea typeface="Cambria" pitchFamily="34" charset="-122"/>
                <a:cs typeface="Cambria" pitchFamily="34" charset="-120"/>
              </a:rPr>
              <a:t>Journalisation</a:t>
            </a:r>
            <a:endParaRPr lang="en-US" sz="1500" dirty="0"/>
          </a:p>
        </p:txBody>
      </p:sp>
      <p:sp>
        <p:nvSpPr>
          <p:cNvPr id="14" name="Text 9"/>
          <p:cNvSpPr txBox="1"/>
          <p:nvPr/>
        </p:nvSpPr>
        <p:spPr>
          <a:xfrm>
            <a:off x="3474720" y="2011680"/>
            <a:ext cx="224028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Fichier journal.log</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Date et heure sur chaque ligne</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Ajout à la fin, sans effacer</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Création, connexions, opérations</a:t>
            </a:r>
            <a:endParaRPr lang="en-US" sz="1300" dirty="0"/>
          </a:p>
        </p:txBody>
      </p:sp>
      <p:sp>
        <p:nvSpPr>
          <p:cNvPr id="15" name="Shape 10"/>
          <p:cNvSpPr/>
          <p:nvPr/>
        </p:nvSpPr>
        <p:spPr>
          <a:xfrm>
            <a:off x="6126480" y="1143000"/>
            <a:ext cx="2560320" cy="3383280"/>
          </a:xfrm>
          <a:prstGeom prst="roundRect">
            <a:avLst>
              <a:gd name="adj" fmla="val 2857"/>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6" name="Shape 11"/>
          <p:cNvSpPr/>
          <p:nvPr/>
        </p:nvSpPr>
        <p:spPr>
          <a:xfrm>
            <a:off x="6309360" y="1280160"/>
            <a:ext cx="502920" cy="502920"/>
          </a:xfrm>
          <a:prstGeom prst="ellipse">
            <a:avLst/>
          </a:prstGeom>
          <a:solidFill>
            <a:srgbClr val="0E7C7B"/>
          </a:solidFill>
          <a:ln w="12700">
            <a:solidFill>
              <a:srgbClr val="0E7C7B"/>
            </a:solidFill>
            <a:prstDash val="solid"/>
          </a:ln>
        </p:spPr>
      </p:sp>
      <p:pic>
        <p:nvPicPr>
          <p:cNvPr id="17" name="Image 2" descr="preencoded.png">    </p:cNvPr>
          <p:cNvPicPr>
            <a:picLocks noChangeAspect="1"/>
          </p:cNvPicPr>
          <p:nvPr/>
        </p:nvPicPr>
        <p:blipFill>
          <a:blip r:embed="rId3"/>
          <a:stretch>
            <a:fillRect/>
          </a:stretch>
        </p:blipFill>
        <p:spPr>
          <a:xfrm>
            <a:off x="6445148" y="1415948"/>
            <a:ext cx="231343" cy="231343"/>
          </a:xfrm>
          <a:prstGeom prst="rect">
            <a:avLst/>
          </a:prstGeom>
        </p:spPr>
      </p:pic>
      <p:sp>
        <p:nvSpPr>
          <p:cNvPr id="18" name="Text 12"/>
          <p:cNvSpPr txBox="1"/>
          <p:nvPr/>
        </p:nvSpPr>
        <p:spPr>
          <a:xfrm>
            <a:off x="6949440" y="1280160"/>
            <a:ext cx="1600200" cy="502920"/>
          </a:xfrm>
          <a:prstGeom prst="rect">
            <a:avLst/>
          </a:prstGeom>
          <a:noFill/>
          <a:ln/>
        </p:spPr>
        <p:txBody>
          <a:bodyPr wrap="square" lIns="0" tIns="0" rIns="0" bIns="0" rtlCol="0" anchor="ctr"/>
          <a:lstStyle/>
          <a:p>
            <a:pPr indent="0" marL="0">
              <a:buNone/>
            </a:pPr>
            <a:r>
              <a:rPr lang="en-US" sz="1500" b="1" dirty="0">
                <a:solidFill>
                  <a:srgbClr val="0F2A2E"/>
                </a:solidFill>
                <a:latin typeface="Cambria" pitchFamily="34" charset="0"/>
                <a:ea typeface="Cambria" pitchFamily="34" charset="-122"/>
                <a:cs typeface="Cambria" pitchFamily="34" charset="-120"/>
              </a:rPr>
              <a:t>Export des relevés</a:t>
            </a:r>
            <a:endParaRPr lang="en-US" sz="1500" dirty="0"/>
          </a:p>
        </p:txBody>
      </p:sp>
      <p:sp>
        <p:nvSpPr>
          <p:cNvPr id="19" name="Text 13"/>
          <p:cNvSpPr txBox="1"/>
          <p:nvPr/>
        </p:nvSpPr>
        <p:spPr>
          <a:xfrm>
            <a:off x="6309360" y="2011680"/>
            <a:ext cx="2240280" cy="23774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Fichier releve_CM00001.txt</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Titulaire et solde actuel</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Toutes les transactions du compte</a:t>
            </a:r>
            <a:endParaRPr lang="en-US" sz="1300" dirty="0"/>
          </a:p>
          <a:p>
            <a:pPr marL="177800" indent="-177800">
              <a:spcAft>
                <a:spcPts val="500"/>
              </a:spcAft>
              <a:buSzPct val="100000"/>
              <a:buChar char="•"/>
            </a:pPr>
            <a:r>
              <a:rPr lang="en-US" sz="1300" dirty="0">
                <a:solidFill>
                  <a:srgbClr val="1F2D2F"/>
                </a:solidFill>
                <a:latin typeface="Calibri" pitchFamily="34" charset="0"/>
                <a:ea typeface="Calibri" pitchFamily="34" charset="-122"/>
                <a:cs typeface="Calibri" pitchFamily="34" charset="-120"/>
              </a:rPr>
              <a:t>Généré avec PrintWriter</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Extrait de code : la fraude</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5120640" cy="3383280"/>
          </a:xfrm>
          <a:prstGeom prst="roundRect">
            <a:avLst>
              <a:gd name="adj" fmla="val 2162"/>
            </a:avLst>
          </a:prstGeom>
          <a:solidFill>
            <a:srgbClr val="0F2A2E"/>
          </a:solidFill>
          <a:ln w="12700">
            <a:solidFill>
              <a:srgbClr val="0F2A2E"/>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731520" y="1463040"/>
            <a:ext cx="4663440" cy="2743200"/>
          </a:xfrm>
          <a:prstGeom prst="rect">
            <a:avLst/>
          </a:prstGeom>
          <a:noFill/>
          <a:ln/>
        </p:spPr>
        <p:txBody>
          <a:bodyPr wrap="square" lIns="0" tIns="0" rIns="0" bIns="0" rtlCol="0" anchor="t"/>
          <a:lstStyle/>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private void analyserFraude(Transaction t) {</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  if (t.getMontant() &gt;= SEUIL_MONTANT) {</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    t.marquerSuspecte("Montant eleve");</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  } else if (compterOperationsRecentes(</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      t.getSource()) &gt;= MAX_OPS_PAR_MINUTE) {</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    t.marquerSuspecte("Frequence anormale");</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  }</a:t>
            </a:r>
            <a:endParaRPr lang="en-US" sz="1250" dirty="0"/>
          </a:p>
          <a:p>
            <a:pPr indent="0" marL="0">
              <a:spcAft>
                <a:spcPts val="800"/>
              </a:spcAft>
              <a:buNone/>
            </a:pPr>
            <a:r>
              <a:rPr lang="en-US" sz="1250" dirty="0">
                <a:solidFill>
                  <a:srgbClr val="E6F4F2"/>
                </a:solidFill>
                <a:latin typeface="Courier New" pitchFamily="34" charset="0"/>
                <a:ea typeface="Courier New" pitchFamily="34" charset="-122"/>
                <a:cs typeface="Courier New" pitchFamily="34" charset="-120"/>
              </a:rPr>
              <a:t>}</a:t>
            </a:r>
            <a:endParaRPr lang="en-US" sz="1250" dirty="0"/>
          </a:p>
        </p:txBody>
      </p:sp>
      <p:sp>
        <p:nvSpPr>
          <p:cNvPr id="7" name="Shape 4"/>
          <p:cNvSpPr/>
          <p:nvPr/>
        </p:nvSpPr>
        <p:spPr>
          <a:xfrm>
            <a:off x="5852160" y="1143000"/>
            <a:ext cx="411480" cy="411480"/>
          </a:xfrm>
          <a:prstGeom prst="ellipse">
            <a:avLst/>
          </a:prstGeom>
          <a:solidFill>
            <a:srgbClr val="F2A93B"/>
          </a:solidFill>
          <a:ln w="12700">
            <a:solidFill>
              <a:srgbClr val="F2A93B"/>
            </a:solidFill>
            <a:prstDash val="solid"/>
          </a:ln>
        </p:spPr>
      </p:sp>
      <p:sp>
        <p:nvSpPr>
          <p:cNvPr id="8" name="Text 5"/>
          <p:cNvSpPr txBox="1"/>
          <p:nvPr/>
        </p:nvSpPr>
        <p:spPr>
          <a:xfrm>
            <a:off x="5852160" y="1143000"/>
            <a:ext cx="411480" cy="411480"/>
          </a:xfrm>
          <a:prstGeom prst="rect">
            <a:avLst/>
          </a:prstGeom>
          <a:noFill/>
          <a:ln/>
        </p:spPr>
        <p:txBody>
          <a:bodyPr wrap="square" lIns="0" tIns="0" rIns="0" bIns="0" rtlCol="0" anchor="ctr"/>
          <a:lstStyle/>
          <a:p>
            <a:pPr algn="ctr" indent="0" marL="0">
              <a:buNone/>
            </a:pPr>
            <a:r>
              <a:rPr lang="en-US" sz="1600" b="1" dirty="0">
                <a:solidFill>
                  <a:srgbClr val="0F2A2E"/>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6446520" y="1143000"/>
            <a:ext cx="224028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Règle du montant</a:t>
            </a:r>
            <a:endParaRPr lang="en-US" sz="1500" dirty="0"/>
          </a:p>
        </p:txBody>
      </p:sp>
      <p:sp>
        <p:nvSpPr>
          <p:cNvPr id="10" name="Text 7"/>
          <p:cNvSpPr txBox="1"/>
          <p:nvPr/>
        </p:nvSpPr>
        <p:spPr>
          <a:xfrm>
            <a:off x="6446520" y="1463040"/>
            <a:ext cx="2240280" cy="7315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Comparaison avec la constante SEUIL_MONTANT (500 000).</a:t>
            </a:r>
            <a:endParaRPr lang="en-US" sz="1200" dirty="0"/>
          </a:p>
        </p:txBody>
      </p:sp>
      <p:sp>
        <p:nvSpPr>
          <p:cNvPr id="11" name="Shape 8"/>
          <p:cNvSpPr/>
          <p:nvPr/>
        </p:nvSpPr>
        <p:spPr>
          <a:xfrm>
            <a:off x="5852160" y="2304288"/>
            <a:ext cx="411480" cy="411480"/>
          </a:xfrm>
          <a:prstGeom prst="ellipse">
            <a:avLst/>
          </a:prstGeom>
          <a:solidFill>
            <a:srgbClr val="F2A93B"/>
          </a:solidFill>
          <a:ln w="12700">
            <a:solidFill>
              <a:srgbClr val="F2A93B"/>
            </a:solidFill>
            <a:prstDash val="solid"/>
          </a:ln>
        </p:spPr>
      </p:sp>
      <p:sp>
        <p:nvSpPr>
          <p:cNvPr id="12" name="Text 9"/>
          <p:cNvSpPr txBox="1"/>
          <p:nvPr/>
        </p:nvSpPr>
        <p:spPr>
          <a:xfrm>
            <a:off x="5852160" y="2304288"/>
            <a:ext cx="411480" cy="411480"/>
          </a:xfrm>
          <a:prstGeom prst="rect">
            <a:avLst/>
          </a:prstGeom>
          <a:noFill/>
          <a:ln/>
        </p:spPr>
        <p:txBody>
          <a:bodyPr wrap="square" lIns="0" tIns="0" rIns="0" bIns="0" rtlCol="0" anchor="ctr"/>
          <a:lstStyle/>
          <a:p>
            <a:pPr algn="ctr" indent="0" marL="0">
              <a:buNone/>
            </a:pPr>
            <a:r>
              <a:rPr lang="en-US" sz="1600" b="1" dirty="0">
                <a:solidFill>
                  <a:srgbClr val="0F2A2E"/>
                </a:solidFill>
                <a:latin typeface="Cambria" pitchFamily="34" charset="0"/>
                <a:ea typeface="Cambria" pitchFamily="34" charset="-122"/>
                <a:cs typeface="Cambria" pitchFamily="34" charset="-120"/>
              </a:rPr>
              <a:t>2</a:t>
            </a:r>
            <a:endParaRPr lang="en-US" sz="1600" dirty="0"/>
          </a:p>
        </p:txBody>
      </p:sp>
      <p:sp>
        <p:nvSpPr>
          <p:cNvPr id="13" name="Text 10"/>
          <p:cNvSpPr txBox="1"/>
          <p:nvPr/>
        </p:nvSpPr>
        <p:spPr>
          <a:xfrm>
            <a:off x="6446520" y="2304288"/>
            <a:ext cx="224028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Règle de fréquence</a:t>
            </a:r>
            <a:endParaRPr lang="en-US" sz="1500" dirty="0"/>
          </a:p>
        </p:txBody>
      </p:sp>
      <p:sp>
        <p:nvSpPr>
          <p:cNvPr id="14" name="Text 11"/>
          <p:cNvSpPr txBox="1"/>
          <p:nvPr/>
        </p:nvSpPr>
        <p:spPr>
          <a:xfrm>
            <a:off x="6446520" y="2624328"/>
            <a:ext cx="2240280" cy="7315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Comptage des opérations du compte sur les 60 dernières secondes.</a:t>
            </a:r>
            <a:endParaRPr lang="en-US" sz="1200" dirty="0"/>
          </a:p>
        </p:txBody>
      </p:sp>
      <p:sp>
        <p:nvSpPr>
          <p:cNvPr id="15" name="Shape 12"/>
          <p:cNvSpPr/>
          <p:nvPr/>
        </p:nvSpPr>
        <p:spPr>
          <a:xfrm>
            <a:off x="5852160" y="3465576"/>
            <a:ext cx="411480" cy="411480"/>
          </a:xfrm>
          <a:prstGeom prst="ellipse">
            <a:avLst/>
          </a:prstGeom>
          <a:solidFill>
            <a:srgbClr val="F2A93B"/>
          </a:solidFill>
          <a:ln w="12700">
            <a:solidFill>
              <a:srgbClr val="F2A93B"/>
            </a:solidFill>
            <a:prstDash val="solid"/>
          </a:ln>
        </p:spPr>
      </p:sp>
      <p:sp>
        <p:nvSpPr>
          <p:cNvPr id="16" name="Text 13"/>
          <p:cNvSpPr txBox="1"/>
          <p:nvPr/>
        </p:nvSpPr>
        <p:spPr>
          <a:xfrm>
            <a:off x="5852160" y="3465576"/>
            <a:ext cx="411480" cy="411480"/>
          </a:xfrm>
          <a:prstGeom prst="rect">
            <a:avLst/>
          </a:prstGeom>
          <a:noFill/>
          <a:ln/>
        </p:spPr>
        <p:txBody>
          <a:bodyPr wrap="square" lIns="0" tIns="0" rIns="0" bIns="0" rtlCol="0" anchor="ctr"/>
          <a:lstStyle/>
          <a:p>
            <a:pPr algn="ctr" indent="0" marL="0">
              <a:buNone/>
            </a:pPr>
            <a:r>
              <a:rPr lang="en-US" sz="1600" b="1" dirty="0">
                <a:solidFill>
                  <a:srgbClr val="0F2A2E"/>
                </a:solidFill>
                <a:latin typeface="Cambria" pitchFamily="34" charset="0"/>
                <a:ea typeface="Cambria" pitchFamily="34" charset="-122"/>
                <a:cs typeface="Cambria" pitchFamily="34" charset="-120"/>
              </a:rPr>
              <a:t>3</a:t>
            </a:r>
            <a:endParaRPr lang="en-US" sz="1600" dirty="0"/>
          </a:p>
        </p:txBody>
      </p:sp>
      <p:sp>
        <p:nvSpPr>
          <p:cNvPr id="17" name="Text 14"/>
          <p:cNvSpPr txBox="1"/>
          <p:nvPr/>
        </p:nvSpPr>
        <p:spPr>
          <a:xfrm>
            <a:off x="6446520" y="3465576"/>
            <a:ext cx="2240280" cy="274320"/>
          </a:xfrm>
          <a:prstGeom prst="rect">
            <a:avLst/>
          </a:prstGeom>
          <a:noFill/>
          <a:ln/>
        </p:spPr>
        <p:txBody>
          <a:bodyPr wrap="square" lIns="0" tIns="0" rIns="0" bIns="0" rtlCol="0" anchor="t"/>
          <a:lstStyle/>
          <a:p>
            <a:pPr indent="0" marL="0">
              <a:buNone/>
            </a:pPr>
            <a:r>
              <a:rPr lang="en-US" sz="1500" b="1" dirty="0">
                <a:solidFill>
                  <a:srgbClr val="0F2A2E"/>
                </a:solidFill>
                <a:latin typeface="Calibri" pitchFamily="34" charset="0"/>
                <a:ea typeface="Calibri" pitchFamily="34" charset="-122"/>
                <a:cs typeface="Calibri" pitchFamily="34" charset="-120"/>
              </a:rPr>
              <a:t>Marquage</a:t>
            </a:r>
            <a:endParaRPr lang="en-US" sz="1500" dirty="0"/>
          </a:p>
        </p:txBody>
      </p:sp>
      <p:sp>
        <p:nvSpPr>
          <p:cNvPr id="18" name="Text 15"/>
          <p:cNvSpPr txBox="1"/>
          <p:nvPr/>
        </p:nvSpPr>
        <p:spPr>
          <a:xfrm>
            <a:off x="6446520" y="3785616"/>
            <a:ext cx="2240280" cy="731520"/>
          </a:xfrm>
          <a:prstGeom prst="rect">
            <a:avLst/>
          </a:prstGeom>
          <a:noFill/>
          <a:ln/>
        </p:spPr>
        <p:txBody>
          <a:bodyPr wrap="square" lIns="0" tIns="0" rIns="0" bIns="0" rtlCol="0" anchor="t"/>
          <a:lstStyle/>
          <a:p>
            <a:pPr indent="0" marL="0">
              <a:buNone/>
            </a:pPr>
            <a:r>
              <a:rPr lang="en-US" sz="1200" dirty="0">
                <a:solidFill>
                  <a:srgbClr val="5B6B6E"/>
                </a:solidFill>
                <a:latin typeface="Calibri" pitchFamily="34" charset="0"/>
                <a:ea typeface="Calibri" pitchFamily="34" charset="-122"/>
                <a:cs typeface="Calibri" pitchFamily="34" charset="-120"/>
              </a:rPr>
              <a:t>La transaction reste enregistrée, avec son motif, pour l'administrateur.</a:t>
            </a:r>
            <a:endParaRPr lang="en-US" sz="1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Démonstration : jeu d'essai</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548640"/>
                <a:gridCol w="4480560"/>
                <a:gridCol w="320040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Résultat attendu</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0E7C7B"/>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Créer Jordan (dépôt 200 000) et Alexandre (50 000)</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Comptes CM00001 et CM00002</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Connexion CM00001 avec le bon mot de passe</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Menu client affiché</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Retrait de 500 000 FCFA</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Refusé : solde insuffisant</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Virement de 100 000 vers CM00002</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Effectué, deux soldes mis à jour</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Quatre retraits rapides de 1 000</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Le 4e est suspect (fréquence)</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Trois mauvais mots de passe</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Compte bloqué</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EAF3F2"/>
                    </a:solidFill>
                  </a:tcPr>
                </a:tc>
              </a:tr>
              <a:tr h="402336">
                <a:tc>
                  <a:txBody>
                    <a:bodyPr/>
                    <a:lstStyle/>
                    <a:p>
                      <a:pPr algn="ctr" indent="0" marL="0">
                        <a:buNone/>
                      </a:pPr>
                      <a:r>
                        <a:rPr lang="en-US" sz="1200" b="1" dirty="0">
                          <a:solidFill>
                            <a:srgbClr val="1F2D2F"/>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Administration : suspectes, débloquer</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200" dirty="0">
                          <a:solidFill>
                            <a:srgbClr val="1F2D2F"/>
                          </a:solidFill>
                          <a:latin typeface="Calibri" pitchFamily="34" charset="0"/>
                          <a:ea typeface="Calibri" pitchFamily="34" charset="-122"/>
                          <a:cs typeface="Calibri" pitchFamily="34" charset="-120"/>
                        </a:rPr>
                        <a:t>Liste affichée, compte réactivé</a:t>
                      </a:r>
                      <a:endParaRPr lang="en-US" sz="1200" dirty="0">
                        <a:latin typeface="Calibri" charset="0"/>
                        <a:ea typeface="Calibri" charset="0"/>
                        <a:cs typeface="Calibri" charset="0"/>
                      </a:endParaRPr>
                    </a:p>
                  </a:txBody>
                  <a:tcPr marL="73152" marR="73152" marT="73152" marB="73152"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8"/>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indent="0" marL="0">
              <a:buNone/>
            </a:pPr>
            <a:r>
              <a:rPr lang="en-US" sz="3000" b="1" dirty="0">
                <a:solidFill>
                  <a:srgbClr val="0F2A2E"/>
                </a:solidFill>
                <a:latin typeface="Cambria" pitchFamily="34" charset="0"/>
                <a:ea typeface="Cambria" pitchFamily="34" charset="-122"/>
                <a:cs typeface="Cambria" pitchFamily="34" charset="-120"/>
              </a:rPr>
              <a:t>Limites et perspectives</a:t>
            </a:r>
            <a:endParaRPr lang="en-US" sz="3000" dirty="0"/>
          </a:p>
        </p:txBody>
      </p:sp>
      <p:sp>
        <p:nvSpPr>
          <p:cNvPr id="3" name="Text 1"/>
          <p:cNvSpPr txBox="1"/>
          <p:nvPr/>
        </p:nvSpPr>
        <p:spPr>
          <a:xfrm>
            <a:off x="457200" y="4800600"/>
            <a:ext cx="4572000" cy="228600"/>
          </a:xfrm>
          <a:prstGeom prst="rect">
            <a:avLst/>
          </a:prstGeom>
          <a:noFill/>
          <a:ln/>
        </p:spPr>
        <p:txBody>
          <a:bodyPr wrap="square" lIns="0" tIns="0" rIns="0" bIns="0" rtlCol="0" anchor="t"/>
          <a:lstStyle/>
          <a:p>
            <a:pPr indent="0" marL="0">
              <a:buNone/>
            </a:pPr>
            <a:r>
              <a:rPr lang="en-US" sz="900" dirty="0">
                <a:solidFill>
                  <a:srgbClr val="5B6B6E"/>
                </a:solidFill>
                <a:latin typeface="Calibri" pitchFamily="34" charset="0"/>
                <a:ea typeface="Calibri" pitchFamily="34" charset="-122"/>
                <a:cs typeface="Calibri" pitchFamily="34" charset="-120"/>
              </a:rPr>
              <a:t>Projet 4 – Transactions bancaires sécurisées</a:t>
            </a:r>
            <a:endParaRPr lang="en-US" sz="900" dirty="0"/>
          </a:p>
        </p:txBody>
      </p:sp>
      <p:sp>
        <p:nvSpPr>
          <p:cNvPr id="5" name="Shape 2"/>
          <p:cNvSpPr/>
          <p:nvPr/>
        </p:nvSpPr>
        <p:spPr>
          <a:xfrm>
            <a:off x="457200" y="1143000"/>
            <a:ext cx="4023360" cy="3383280"/>
          </a:xfrm>
          <a:prstGeom prst="roundRect">
            <a:avLst>
              <a:gd name="adj" fmla="val 2162"/>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85800" y="1325880"/>
            <a:ext cx="502920" cy="502920"/>
          </a:xfrm>
          <a:prstGeom prst="ellipse">
            <a:avLst/>
          </a:prstGeom>
          <a:solidFill>
            <a:srgbClr val="F2A93B"/>
          </a:solidFill>
          <a:ln w="12700">
            <a:solidFill>
              <a:srgbClr val="F2A93B"/>
            </a:solidFill>
            <a:prstDash val="solid"/>
          </a:ln>
        </p:spPr>
      </p:sp>
      <p:pic>
        <p:nvPicPr>
          <p:cNvPr id="7" name="Image 0" descr="preencoded.png">    </p:cNvPr>
          <p:cNvPicPr>
            <a:picLocks noChangeAspect="1"/>
          </p:cNvPicPr>
          <p:nvPr/>
        </p:nvPicPr>
        <p:blipFill>
          <a:blip r:embed="rId1"/>
          <a:stretch>
            <a:fillRect/>
          </a:stretch>
        </p:blipFill>
        <p:spPr>
          <a:xfrm>
            <a:off x="821588" y="1461668"/>
            <a:ext cx="231343" cy="231343"/>
          </a:xfrm>
          <a:prstGeom prst="rect">
            <a:avLst/>
          </a:prstGeom>
        </p:spPr>
      </p:pic>
      <p:sp>
        <p:nvSpPr>
          <p:cNvPr id="8" name="Text 4"/>
          <p:cNvSpPr txBox="1"/>
          <p:nvPr/>
        </p:nvSpPr>
        <p:spPr>
          <a:xfrm>
            <a:off x="1371600" y="1325880"/>
            <a:ext cx="2743200" cy="502920"/>
          </a:xfrm>
          <a:prstGeom prst="rect">
            <a:avLst/>
          </a:prstGeom>
          <a:noFill/>
          <a:ln/>
        </p:spPr>
        <p:txBody>
          <a:bodyPr wrap="square" lIns="0" tIns="0" rIns="0" bIns="0" rtlCol="0" anchor="ctr"/>
          <a:lstStyle/>
          <a:p>
            <a:pPr indent="0" marL="0">
              <a:buNone/>
            </a:pPr>
            <a:r>
              <a:rPr lang="en-US" sz="2000" b="1" dirty="0">
                <a:solidFill>
                  <a:srgbClr val="0F2A2E"/>
                </a:solidFill>
                <a:latin typeface="Cambria" pitchFamily="34" charset="0"/>
                <a:ea typeface="Cambria" pitchFamily="34" charset="-122"/>
                <a:cs typeface="Cambria" pitchFamily="34" charset="-120"/>
              </a:rPr>
              <a:t>Limites</a:t>
            </a:r>
            <a:endParaRPr lang="en-US" sz="2000" dirty="0"/>
          </a:p>
        </p:txBody>
      </p:sp>
      <p:sp>
        <p:nvSpPr>
          <p:cNvPr id="9" name="Text 5"/>
          <p:cNvSpPr txBox="1"/>
          <p:nvPr/>
        </p:nvSpPr>
        <p:spPr>
          <a:xfrm>
            <a:off x="731520" y="2103120"/>
            <a:ext cx="3520440" cy="228600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Tableaux de taille fixe (100 comptes, 1000 transactions)</a:t>
            </a:r>
            <a:endParaRPr lang="en-US" sz="1600" dirty="0"/>
          </a:p>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Données perdues à la fermeture du programme</a:t>
            </a:r>
            <a:endParaRPr lang="en-US" sz="1600" dirty="0"/>
          </a:p>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Fraude détectée par deux règles seulement</a:t>
            </a:r>
            <a:endParaRPr lang="en-US" sz="1600" dirty="0"/>
          </a:p>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Interface en console</a:t>
            </a:r>
            <a:endParaRPr lang="en-US" sz="1600" dirty="0"/>
          </a:p>
        </p:txBody>
      </p:sp>
      <p:sp>
        <p:nvSpPr>
          <p:cNvPr id="10" name="Shape 6"/>
          <p:cNvSpPr/>
          <p:nvPr/>
        </p:nvSpPr>
        <p:spPr>
          <a:xfrm>
            <a:off x="4663440" y="1143000"/>
            <a:ext cx="4023360" cy="3383280"/>
          </a:xfrm>
          <a:prstGeom prst="roundRect">
            <a:avLst>
              <a:gd name="adj" fmla="val 2162"/>
            </a:avLst>
          </a:prstGeom>
          <a:solidFill>
            <a:srgbClr val="FFFFFF"/>
          </a:solidFill>
          <a:ln w="9525">
            <a:solidFill>
              <a:srgbClr val="DCE7E6"/>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4892040" y="1325880"/>
            <a:ext cx="502920" cy="502920"/>
          </a:xfrm>
          <a:prstGeom prst="ellipse">
            <a:avLst/>
          </a:prstGeom>
          <a:solidFill>
            <a:srgbClr val="0E7C7B"/>
          </a:solidFill>
          <a:ln w="12700">
            <a:solidFill>
              <a:srgbClr val="0E7C7B"/>
            </a:solidFill>
            <a:prstDash val="solid"/>
          </a:ln>
        </p:spPr>
      </p:sp>
      <p:pic>
        <p:nvPicPr>
          <p:cNvPr id="12" name="Image 1" descr="preencoded.png">    </p:cNvPr>
          <p:cNvPicPr>
            <a:picLocks noChangeAspect="1"/>
          </p:cNvPicPr>
          <p:nvPr/>
        </p:nvPicPr>
        <p:blipFill>
          <a:blip r:embed="rId2"/>
          <a:stretch>
            <a:fillRect/>
          </a:stretch>
        </p:blipFill>
        <p:spPr>
          <a:xfrm>
            <a:off x="5027828" y="1461668"/>
            <a:ext cx="231343" cy="231343"/>
          </a:xfrm>
          <a:prstGeom prst="rect">
            <a:avLst/>
          </a:prstGeom>
        </p:spPr>
      </p:pic>
      <p:sp>
        <p:nvSpPr>
          <p:cNvPr id="13" name="Text 8"/>
          <p:cNvSpPr txBox="1"/>
          <p:nvPr/>
        </p:nvSpPr>
        <p:spPr>
          <a:xfrm>
            <a:off x="5577840" y="1325880"/>
            <a:ext cx="2743200" cy="502920"/>
          </a:xfrm>
          <a:prstGeom prst="rect">
            <a:avLst/>
          </a:prstGeom>
          <a:noFill/>
          <a:ln/>
        </p:spPr>
        <p:txBody>
          <a:bodyPr wrap="square" lIns="0" tIns="0" rIns="0" bIns="0" rtlCol="0" anchor="ctr"/>
          <a:lstStyle/>
          <a:p>
            <a:pPr indent="0" marL="0">
              <a:buNone/>
            </a:pPr>
            <a:r>
              <a:rPr lang="en-US" sz="2000" b="1" dirty="0">
                <a:solidFill>
                  <a:srgbClr val="0F2A2E"/>
                </a:solidFill>
                <a:latin typeface="Cambria" pitchFamily="34" charset="0"/>
                <a:ea typeface="Cambria" pitchFamily="34" charset="-122"/>
                <a:cs typeface="Cambria" pitchFamily="34" charset="-120"/>
              </a:rPr>
              <a:t>Perspectives</a:t>
            </a:r>
            <a:endParaRPr lang="en-US" sz="2000" dirty="0"/>
          </a:p>
        </p:txBody>
      </p:sp>
      <p:sp>
        <p:nvSpPr>
          <p:cNvPr id="14" name="Text 9"/>
          <p:cNvSpPr txBox="1"/>
          <p:nvPr/>
        </p:nvSpPr>
        <p:spPr>
          <a:xfrm>
            <a:off x="4937760" y="2103120"/>
            <a:ext cx="3520440" cy="228600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ArrayList, puis base de données (MySQL, SQLite)</a:t>
            </a:r>
            <a:endParaRPr lang="en-US" sz="1600" dirty="0"/>
          </a:p>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Sel ou BCrypt pour le hachage</a:t>
            </a:r>
            <a:endParaRPr lang="en-US" sz="1600" dirty="0"/>
          </a:p>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Blocage automatique des opérations suspectes</a:t>
            </a:r>
            <a:endParaRPr lang="en-US" sz="1600" dirty="0"/>
          </a:p>
          <a:p>
            <a:pPr marL="177800" indent="-177800">
              <a:spcAft>
                <a:spcPts val="500"/>
              </a:spcAft>
              <a:buSzPct val="100000"/>
              <a:buChar char="•"/>
            </a:pPr>
            <a:r>
              <a:rPr lang="en-US" sz="1600" dirty="0">
                <a:solidFill>
                  <a:srgbClr val="1F2D2F"/>
                </a:solidFill>
                <a:latin typeface="Calibri" pitchFamily="34" charset="0"/>
                <a:ea typeface="Calibri" pitchFamily="34" charset="-122"/>
                <a:cs typeface="Calibri" pitchFamily="34" charset="-120"/>
              </a:rPr>
              <a:t>Sauvegarde dans un fichier, interface JavaFX</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6E"/>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2E"/>
        </a:solidFill>
      </p:bgPr>
    </p:bg>
    <p:spTree>
      <p:nvGrpSpPr>
        <p:cNvPr id="1" name=""/>
        <p:cNvGrpSpPr/>
        <p:nvPr/>
      </p:nvGrpSpPr>
      <p:grpSpPr>
        <a:xfrm>
          <a:off x="0" y="0"/>
          <a:ext cx="0" cy="0"/>
          <a:chOff x="0" y="0"/>
          <a:chExt cx="0" cy="0"/>
        </a:xfrm>
      </p:grpSpPr>
      <p:sp>
        <p:nvSpPr>
          <p:cNvPr id="3" name="Text 0"/>
          <p:cNvSpPr txBox="1"/>
          <p:nvPr/>
        </p:nvSpPr>
        <p:spPr>
          <a:xfrm>
            <a:off x="548640" y="548640"/>
            <a:ext cx="8046720" cy="64008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Conclusion</a:t>
            </a:r>
            <a:endParaRPr lang="en-US" sz="3600" dirty="0"/>
          </a:p>
        </p:txBody>
      </p:sp>
      <p:sp>
        <p:nvSpPr>
          <p:cNvPr id="4" name="Shape 1"/>
          <p:cNvSpPr/>
          <p:nvPr/>
        </p:nvSpPr>
        <p:spPr>
          <a:xfrm>
            <a:off x="548640" y="1463040"/>
            <a:ext cx="2560320" cy="2103120"/>
          </a:xfrm>
          <a:prstGeom prst="roundRect">
            <a:avLst>
              <a:gd name="adj" fmla="val 3478"/>
            </a:avLst>
          </a:prstGeom>
          <a:solidFill>
            <a:srgbClr val="17383D"/>
          </a:solidFill>
          <a:ln w="9525">
            <a:solidFill>
              <a:srgbClr val="245A5E"/>
            </a:solidFill>
            <a:prstDash val="solid"/>
          </a:ln>
        </p:spPr>
      </p:sp>
      <p:sp>
        <p:nvSpPr>
          <p:cNvPr id="5" name="Shape 2"/>
          <p:cNvSpPr/>
          <p:nvPr/>
        </p:nvSpPr>
        <p:spPr>
          <a:xfrm>
            <a:off x="731520" y="1645920"/>
            <a:ext cx="502920" cy="502920"/>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867308" y="1781708"/>
            <a:ext cx="231343" cy="231343"/>
          </a:xfrm>
          <a:prstGeom prst="rect">
            <a:avLst/>
          </a:prstGeom>
        </p:spPr>
      </p:pic>
      <p:sp>
        <p:nvSpPr>
          <p:cNvPr id="7" name="Text 3"/>
          <p:cNvSpPr txBox="1"/>
          <p:nvPr/>
        </p:nvSpPr>
        <p:spPr>
          <a:xfrm>
            <a:off x="731520" y="2286000"/>
            <a:ext cx="219456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Cahier des charges couvert</a:t>
            </a:r>
            <a:endParaRPr lang="en-US" sz="1500" dirty="0"/>
          </a:p>
        </p:txBody>
      </p:sp>
      <p:sp>
        <p:nvSpPr>
          <p:cNvPr id="8" name="Text 4"/>
          <p:cNvSpPr txBox="1"/>
          <p:nvPr/>
        </p:nvSpPr>
        <p:spPr>
          <a:xfrm>
            <a:off x="731520" y="2834640"/>
            <a:ext cx="2194560" cy="685800"/>
          </a:xfrm>
          <a:prstGeom prst="rect">
            <a:avLst/>
          </a:prstGeom>
          <a:noFill/>
          <a:ln/>
        </p:spPr>
        <p:txBody>
          <a:bodyPr wrap="square" lIns="0" tIns="0" rIns="0" bIns="0" rtlCol="0" anchor="t"/>
          <a:lstStyle/>
          <a:p>
            <a:pPr indent="0" marL="0">
              <a:buNone/>
            </a:pPr>
            <a:r>
              <a:rPr lang="en-US" sz="1150" dirty="0">
                <a:solidFill>
                  <a:srgbClr val="B5D6D3"/>
                </a:solidFill>
                <a:latin typeface="Calibri" pitchFamily="34" charset="0"/>
                <a:ea typeface="Calibri" pitchFamily="34" charset="-122"/>
                <a:cs typeface="Calibri" pitchFamily="34" charset="-120"/>
              </a:rPr>
              <a:t>Comptes, opérations, historique, fraude, administration, journal, relevés</a:t>
            </a:r>
            <a:endParaRPr lang="en-US" sz="1150" dirty="0"/>
          </a:p>
        </p:txBody>
      </p:sp>
      <p:sp>
        <p:nvSpPr>
          <p:cNvPr id="9" name="Shape 5"/>
          <p:cNvSpPr/>
          <p:nvPr/>
        </p:nvSpPr>
        <p:spPr>
          <a:xfrm>
            <a:off x="3337560" y="1463040"/>
            <a:ext cx="2560320" cy="2103120"/>
          </a:xfrm>
          <a:prstGeom prst="roundRect">
            <a:avLst>
              <a:gd name="adj" fmla="val 3478"/>
            </a:avLst>
          </a:prstGeom>
          <a:solidFill>
            <a:srgbClr val="17383D"/>
          </a:solidFill>
          <a:ln w="9525">
            <a:solidFill>
              <a:srgbClr val="245A5E"/>
            </a:solidFill>
            <a:prstDash val="solid"/>
          </a:ln>
        </p:spPr>
      </p:sp>
      <p:sp>
        <p:nvSpPr>
          <p:cNvPr id="10" name="Shape 6"/>
          <p:cNvSpPr/>
          <p:nvPr/>
        </p:nvSpPr>
        <p:spPr>
          <a:xfrm>
            <a:off x="3520440" y="1645920"/>
            <a:ext cx="502920" cy="502920"/>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3656228" y="1781708"/>
            <a:ext cx="231343" cy="231343"/>
          </a:xfrm>
          <a:prstGeom prst="rect">
            <a:avLst/>
          </a:prstGeom>
        </p:spPr>
      </p:pic>
      <p:sp>
        <p:nvSpPr>
          <p:cNvPr id="12" name="Text 7"/>
          <p:cNvSpPr txBox="1"/>
          <p:nvPr/>
        </p:nvSpPr>
        <p:spPr>
          <a:xfrm>
            <a:off x="3520440" y="2286000"/>
            <a:ext cx="219456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Architecture claire</a:t>
            </a:r>
            <a:endParaRPr lang="en-US" sz="1500" dirty="0"/>
          </a:p>
        </p:txBody>
      </p:sp>
      <p:sp>
        <p:nvSpPr>
          <p:cNvPr id="13" name="Text 8"/>
          <p:cNvSpPr txBox="1"/>
          <p:nvPr/>
        </p:nvSpPr>
        <p:spPr>
          <a:xfrm>
            <a:off x="3520440" y="2834640"/>
            <a:ext cx="2194560" cy="685800"/>
          </a:xfrm>
          <a:prstGeom prst="rect">
            <a:avLst/>
          </a:prstGeom>
          <a:noFill/>
          <a:ln/>
        </p:spPr>
        <p:txBody>
          <a:bodyPr wrap="square" lIns="0" tIns="0" rIns="0" bIns="0" rtlCol="0" anchor="t"/>
          <a:lstStyle/>
          <a:p>
            <a:pPr indent="0" marL="0">
              <a:buNone/>
            </a:pPr>
            <a:r>
              <a:rPr lang="en-US" sz="1150" dirty="0">
                <a:solidFill>
                  <a:srgbClr val="B5D6D3"/>
                </a:solidFill>
                <a:latin typeface="Calibri" pitchFamily="34" charset="0"/>
                <a:ea typeface="Calibri" pitchFamily="34" charset="-122"/>
                <a:cs typeface="Calibri" pitchFamily="34" charset="-120"/>
              </a:rPr>
              <a:t>Six classes, un rôle chacune, code facile à expliquer</a:t>
            </a:r>
            <a:endParaRPr lang="en-US" sz="1150" dirty="0"/>
          </a:p>
        </p:txBody>
      </p:sp>
      <p:sp>
        <p:nvSpPr>
          <p:cNvPr id="14" name="Shape 9"/>
          <p:cNvSpPr/>
          <p:nvPr/>
        </p:nvSpPr>
        <p:spPr>
          <a:xfrm>
            <a:off x="6126480" y="1463040"/>
            <a:ext cx="2560320" cy="2103120"/>
          </a:xfrm>
          <a:prstGeom prst="roundRect">
            <a:avLst>
              <a:gd name="adj" fmla="val 3478"/>
            </a:avLst>
          </a:prstGeom>
          <a:solidFill>
            <a:srgbClr val="17383D"/>
          </a:solidFill>
          <a:ln w="9525">
            <a:solidFill>
              <a:srgbClr val="245A5E"/>
            </a:solidFill>
            <a:prstDash val="solid"/>
          </a:ln>
        </p:spPr>
      </p:sp>
      <p:sp>
        <p:nvSpPr>
          <p:cNvPr id="15" name="Shape 10"/>
          <p:cNvSpPr/>
          <p:nvPr/>
        </p:nvSpPr>
        <p:spPr>
          <a:xfrm>
            <a:off x="6309360" y="1645920"/>
            <a:ext cx="502920" cy="502920"/>
          </a:xfrm>
          <a:prstGeom prst="ellipse">
            <a:avLst/>
          </a:prstGeom>
          <a:solidFill>
            <a:srgbClr val="0E7C7B"/>
          </a:solidFill>
          <a:ln w="12700">
            <a:solidFill>
              <a:srgbClr val="0E7C7B"/>
            </a:solidFill>
            <a:prstDash val="solid"/>
          </a:ln>
        </p:spPr>
      </p:sp>
      <p:pic>
        <p:nvPicPr>
          <p:cNvPr id="16" name="Image 2" descr="preencoded.png">    </p:cNvPr>
          <p:cNvPicPr>
            <a:picLocks noChangeAspect="1"/>
          </p:cNvPicPr>
          <p:nvPr/>
        </p:nvPicPr>
        <p:blipFill>
          <a:blip r:embed="rId3"/>
          <a:stretch>
            <a:fillRect/>
          </a:stretch>
        </p:blipFill>
        <p:spPr>
          <a:xfrm>
            <a:off x="6445148" y="1781708"/>
            <a:ext cx="231343" cy="231343"/>
          </a:xfrm>
          <a:prstGeom prst="rect">
            <a:avLst/>
          </a:prstGeom>
        </p:spPr>
      </p:pic>
      <p:sp>
        <p:nvSpPr>
          <p:cNvPr id="17" name="Text 11"/>
          <p:cNvSpPr txBox="1"/>
          <p:nvPr/>
        </p:nvSpPr>
        <p:spPr>
          <a:xfrm>
            <a:off x="6309360" y="2286000"/>
            <a:ext cx="2194560" cy="5486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Sécurité intégrée</a:t>
            </a:r>
            <a:endParaRPr lang="en-US" sz="1500" dirty="0"/>
          </a:p>
        </p:txBody>
      </p:sp>
      <p:sp>
        <p:nvSpPr>
          <p:cNvPr id="18" name="Text 12"/>
          <p:cNvSpPr txBox="1"/>
          <p:nvPr/>
        </p:nvSpPr>
        <p:spPr>
          <a:xfrm>
            <a:off x="6309360" y="2834640"/>
            <a:ext cx="2194560" cy="685800"/>
          </a:xfrm>
          <a:prstGeom prst="rect">
            <a:avLst/>
          </a:prstGeom>
          <a:noFill/>
          <a:ln/>
        </p:spPr>
        <p:txBody>
          <a:bodyPr wrap="square" lIns="0" tIns="0" rIns="0" bIns="0" rtlCol="0" anchor="t"/>
          <a:lstStyle/>
          <a:p>
            <a:pPr indent="0" marL="0">
              <a:buNone/>
            </a:pPr>
            <a:r>
              <a:rPr lang="en-US" sz="1150" dirty="0">
                <a:solidFill>
                  <a:srgbClr val="B5D6D3"/>
                </a:solidFill>
                <a:latin typeface="Calibri" pitchFamily="34" charset="0"/>
                <a:ea typeface="Calibri" pitchFamily="34" charset="-122"/>
                <a:cs typeface="Calibri" pitchFamily="34" charset="-120"/>
              </a:rPr>
              <a:t>SHA-256, blocage après 3 échecs, détection de fraude</a:t>
            </a:r>
            <a:endParaRPr lang="en-US" sz="1150" dirty="0"/>
          </a:p>
        </p:txBody>
      </p:sp>
      <p:sp>
        <p:nvSpPr>
          <p:cNvPr id="19" name="Text 13"/>
          <p:cNvSpPr txBox="1"/>
          <p:nvPr/>
        </p:nvSpPr>
        <p:spPr>
          <a:xfrm>
            <a:off x="548640" y="4023360"/>
            <a:ext cx="8046720" cy="457200"/>
          </a:xfrm>
          <a:prstGeom prst="rect">
            <a:avLst/>
          </a:prstGeom>
          <a:noFill/>
          <a:ln/>
        </p:spPr>
        <p:txBody>
          <a:bodyPr wrap="square" lIns="0" tIns="0" rIns="0" bIns="0" rtlCol="0" anchor="t"/>
          <a:lstStyle/>
          <a:p>
            <a:pPr indent="0" marL="0">
              <a:buNone/>
            </a:pPr>
            <a:r>
              <a:rPr lang="en-US" sz="2400" b="1" dirty="0">
                <a:solidFill>
                  <a:srgbClr val="F2A93B"/>
                </a:solidFill>
                <a:latin typeface="Cambria" pitchFamily="34" charset="0"/>
                <a:ea typeface="Cambria" pitchFamily="34" charset="-122"/>
                <a:cs typeface="Cambria" pitchFamily="34" charset="-120"/>
              </a:rPr>
              <a:t>Merci de votre attention. Des questions ?</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4 – Simulation de transactions bancaires sécurisées</dc:title>
  <dc:subject>PptxGenJS Presentation</dc:subject>
  <dc:creator>Soumelong Jordan Landry</dc:creator>
  <cp:lastModifiedBy>Soumelong Jordan Landry</cp:lastModifiedBy>
  <cp:revision>1</cp:revision>
  <dcterms:created xsi:type="dcterms:W3CDTF">2026-09-24T07:20:49Z</dcterms:created>
  <dcterms:modified xsi:type="dcterms:W3CDTF">2026-09-24T07:20:49Z</dcterms:modified>
</cp:coreProperties>
</file>